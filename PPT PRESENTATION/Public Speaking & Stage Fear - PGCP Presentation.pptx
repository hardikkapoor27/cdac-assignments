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13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Fill in: (1) Your actual topic title, (2) Group member names, (3) Batch/Roll number, (4) Presentation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SLIDE — Replace the 6 agenda items with your actual section headings. Each member should own at least one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— State your name, introduce the topic, explain its importance. Keep this slide under 90 seconds. Use an image or diagram on the right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CONCEPTS — Replace icons, headings, and descriptions. Aim for 4 clear, distinct ideas. Use terminology specific to your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SLIDE — Each member should own one content slide. Replace sub-heading, points, and example box. This is your primary individual assessment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/ EVIDENCE SLIDE — Replace placeholder stats with real data relevant to your topic. Cite sources. Charts and visuals boost your Slide Design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SLIDE — Ask an engaging question or run a quick activity. Audience interaction boosts your Individual Delivery score. Keep it to 2–3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 — Each takeaway should correspond to a core idea from your presentation. Keep sentences short and impactful. This slide shows your group understood the topic deeply.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— Use APA or MLA format consistently. Aim for at least 3 quality sources (not just Wikipedia). This directly affects your Content Quality score in Section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SLIDE — During Q&amp;A, any evaluator can ask any member about any part of the presentation. Review all sections, not just your own. Q&amp;A handling contributes 70% of your individual score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C5F9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4A90D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6858000" cy="3886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048256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PGCP Presentation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3716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&amp; Stage Fear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ABFDE"/>
                </a:solidFill>
              </a:rPr>
              <a:t>A Group Presentation on Communication &amp; Professional Development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429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 xml:space="preserve">Presented by:  </a:t>
            </a:r>
            <a:r>
              <a:rPr lang="en-US" sz="1100" dirty="0">
                <a:solidFill>
                  <a:srgbClr val="FFFFFF"/>
                </a:solidFill>
              </a:rPr>
              <a:t>Member 1  •  Member 2  •  Member 3  •  Member 4  •  Member 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 xml:space="preserve">Batch / Roll No:  </a:t>
            </a:r>
            <a:r>
              <a:rPr lang="en-US" sz="1100" dirty="0">
                <a:solidFill>
                  <a:srgbClr val="FFFFFF"/>
                </a:solidFill>
              </a:rPr>
              <a:t xml:space="preserve">PGCP-XX  |  </a:t>
            </a:r>
            <a:r>
              <a:rPr lang="en-US" sz="1100" b="1" dirty="0">
                <a:solidFill>
                  <a:srgbClr val="F5A623"/>
                </a:solidFill>
              </a:rPr>
              <a:t xml:space="preserve">Date:  </a:t>
            </a:r>
            <a:r>
              <a:rPr lang="en-US" sz="1100" dirty="0">
                <a:solidFill>
                  <a:srgbClr val="FFFFFF"/>
                </a:solidFill>
              </a:rPr>
              <a:t>DD Month YYYY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6858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E5A"/>
                </a:solidFill>
              </a:rPr>
              <a:t>C-DAC  •  PG Certificate Program •  AC/BDA/ITISS/ESD {Put your Course}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577DFA4-F9D1-4772-A8A9-6AF3C93DD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7" y="95160"/>
            <a:ext cx="1065474" cy="762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BA6"/>
                </a:solidFill>
              </a:rPr>
              <a:t>What we will cover 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07592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23444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2344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E5A"/>
                </a:solidFill>
              </a:rPr>
              <a:t>Introduction &amp; Overview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04872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23317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Key Concepts &amp; Theory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02152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42900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342900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Real-World Examples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30759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23444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Group Discussion &amp; Insights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40487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94960" y="233172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32120" y="233172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50215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94960" y="3429000"/>
            <a:ext cx="365760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32120" y="3429000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E5A"/>
                </a:solidFill>
              </a:rPr>
              <a:t>Q &amp; 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2E5A"/>
                </a:solidFill>
              </a:rPr>
              <a:t>What Is Public Speaking &amp; Stage Fear?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Public speaking is the act of delivering structured communication to an audience — and stage fear (Glossophobia) is the intense anxiety that accompanies it. Together, they represent one of the most universal human experiences: the fear of being judged while speaking.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In professional life, the ability to speak confidently in front of others is a core career skill — influencing interviews, client meetings, leadership, and how others perceive your competence.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</a:rPr>
              <a:t>💡 Did you know? 75% of people fear public speaking more than death — yet it is a skill anyone can learn, practice, and master with the right approach.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977640"/>
            <a:ext cx="4846320" cy="77724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 xml:space="preserve"> Speaker Note: </a:t>
            </a:r>
            <a:r>
              <a:rPr lang="en-US" sz="1100" dirty="0">
                <a:solidFill>
                  <a:srgbClr val="1A2E5A"/>
                </a:solidFill>
              </a:rPr>
              <a:t>State your name before you begin. E.g. "Hi, I'm [Name], I'll introduce today's topic."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914400"/>
            <a:ext cx="3200400" cy="3200400"/>
          </a:xfrm>
          <a:prstGeom prst="rect">
            <a:avLst/>
          </a:prstGeom>
          <a:solidFill>
            <a:srgbClr val="E8EF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9144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A8BA6"/>
                </a:solidFill>
              </a:rPr>
              <a:t>📷
</a:t>
            </a:r>
            <a:r>
              <a:rPr lang="en-US" sz="1200" b="1" dirty="0">
                <a:solidFill>
                  <a:srgbClr val="7A8BA6"/>
                </a:solidFill>
              </a:rPr>
              <a:t xml:space="preserve"> Add Image / Diagram
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7A8BA6"/>
                </a:solidFill>
              </a:rPr>
              <a:t>(relevant to your topic)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9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BA6"/>
                </a:solidFill>
              </a:rPr>
              <a:t>Core ideas that define this topic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411480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Glossophobia (Stage Fear)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Glossophobia affects 75% of people worldwide. It is the fear of public speaking, causing anxiety, trembling, and mental blocks. E.g. freezing during a class presentation.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411480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Fight-or-Flight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When nervous, the brain triggers adrenaline release causing a faster heartbeat, sweating, and dry mouth. Understanding this response helps speakers manage it consciously.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41148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Preparation &amp; Practice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Thorough preparation reduces anxiety dramatically. Practicing in front of a mirror or small group builds familiarity. Steve Jobs rehearsed for hours before every keynote.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9718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71800"/>
            <a:ext cx="41148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E5A"/>
                </a:solidFill>
              </a:rPr>
              <a:t>Audience Engagement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</a:rPr>
              <a:t>Great speakers connect with the audience using eye contact, questions, and storytelling. Engaged audiences create a positive feedback loop that reduces speaker nervousness.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In-Depth Explanation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E5A"/>
                </a:solidFill>
              </a:rPr>
              <a:t>Proven Techniques to Overcome Stage Fear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5F9E"/>
                </a:solidFill>
              </a:rPr>
              <a:t xml:space="preserve">Point 1: </a:t>
            </a:r>
            <a:r>
              <a:rPr lang="en-US" sz="1300" dirty="0">
                <a:solidFill>
                  <a:srgbClr val="222222"/>
                </a:solidFill>
              </a:rPr>
              <a:t>Stage fear is rooted in the amygdala's threat response. Simply knowing this helps — your body is preparing you, not betraying you. Reframe anxiety as excitement.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C5F9E"/>
                </a:solidFill>
              </a:rPr>
              <a:t xml:space="preserve">Point 2: </a:t>
            </a:r>
            <a:r>
              <a:rPr lang="en-US" sz="1300" dirty="0">
                <a:solidFill>
                  <a:srgbClr val="222222"/>
                </a:solidFill>
              </a:rPr>
              <a:t>The "3-Second Rule": Before speaking, take 3 slow deep breaths. This activates the parasympathetic nervous system, slows the heart rate, and restores calm instantly.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</a:rPr>
              <a:t xml:space="preserve"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2C5F9E"/>
                </a:solidFill>
              </a:rPr>
              <a:t xml:space="preserve">Point 3: </a:t>
            </a:r>
            <a:r>
              <a:rPr lang="en-US" sz="1300" dirty="0">
                <a:solidFill>
                  <a:srgbClr val="222222"/>
                </a:solidFill>
              </a:rPr>
              <a:t>Visualization and deliberate practice build neural pathways. Research shows that mentally rehearsing a speech activates the same brain regions as actually delivering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822960"/>
            <a:ext cx="3200400" cy="36576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822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Real-World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Example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32004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5544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DDEE"/>
                </a:solidFill>
              </a:rPr>
              <a:t>Priya, a shy engineering student at C-DAC, had to present her final project to 60 people. She practiced daily for 2 weeks using the mirror technique and breathing exercises.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CCDDEE"/>
                </a:solidFill>
              </a:rPr>
              <a:t>On presentation day, she felt nervous — but her preparation carried her through. She scored top marks and was offered a job interview on the spot by a visiting recruiter.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4846320" cy="777240"/>
          </a:xfrm>
          <a:prstGeom prst="rect">
            <a:avLst/>
          </a:prstGeom>
          <a:solidFill>
            <a:srgbClr val="E8EF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776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</a:rPr>
              <a:t xml:space="preserve"> Evaluation Tip: </a:t>
            </a:r>
            <a:r>
              <a:rPr lang="en-US" sz="1100" dirty="0">
                <a:solidFill>
                  <a:srgbClr val="1A2E5A"/>
                </a:solidFill>
              </a:rPr>
              <a:t>This slide tests your Individual Content Contribution score. Know this section deeply — you'll be asked about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Supporting Evidence &amp;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SECTION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265176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418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E5A"/>
                </a:solidFill>
              </a:rPr>
              <a:t>75%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9E"/>
                </a:solidFill>
              </a:rPr>
              <a:t>Fear Public Speaking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6"/>
                </a:solidFill>
              </a:rPr>
              <a:t>National Institute of Mental Health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65176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9418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E5A"/>
                </a:solidFill>
              </a:rPr>
              <a:t>1 in 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9E"/>
                </a:solidFill>
              </a:rPr>
              <a:t>Experience Panic Attacks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6"/>
                </a:solidFill>
              </a:rPr>
              <a:t>Chapman University Survey, 2023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2651760" cy="7315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9418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2E5A"/>
                </a:solidFill>
              </a:rPr>
              <a:t>#1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2648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9E"/>
                </a:solidFill>
              </a:rPr>
              <a:t>Most Common Phobia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6"/>
                </a:solidFill>
              </a:rPr>
              <a:t>Glossophobia ranks above death (Jerry Seinfeld)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8595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2377440"/>
            <a:ext cx="8595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</a:rPr>
              <a:t>Top Techniques Used by Confident Speakers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8BA6"/>
                </a:solidFill>
              </a:rPr>
              <a:t>(Visualization) Bar chart: Preparation 89% | Breathing Exercises 76% | Visualization 68% | Joining Speaking Clubs 54% | Seeking Feedback 49%
</a:t>
            </a:r>
            <a:endParaRPr lang="en-US" sz="16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8BA6"/>
                </a:solidFill>
              </a:rPr>
              <a:t>Source: Toastmasters International Survey 2022 | Insert bar chart using PowerPoint Insert → Chart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C5F9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1389888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6576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 ACTIVITY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Let's Discuss!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21792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</a:rPr>
              <a:t>Discussion Question / Activity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DEEFF"/>
                </a:solidFill>
              </a:rPr>
              <a:t>“Think of a time you had to speak in front of others — a classroom presentation, a job interview, or even a group discussion.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DDEEFF"/>
                </a:solidFill>
              </a:rPr>
              <a:t>What did you feel in that moment, and what did you do to get through it?”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A623"/>
                </a:solidFill>
              </a:rPr>
              <a:t xml:space="preserve">  Give the audience 2 minutes to reflect individually, then share with the group. Each group member will also briefly share their own personal technique for managing nerves.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210312"/>
            <a:ext cx="877824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21031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8BA6"/>
                </a:solidFill>
              </a:rPr>
              <a:t>What to remember from today's presentation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71323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16736"/>
            <a:ext cx="548640" cy="548640"/>
          </a:xfrm>
          <a:prstGeom prst="ellipse">
            <a:avLst/>
          </a:prstGeom>
          <a:solidFill>
            <a:srgbClr val="1A2E5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16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23444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Stage fear is normal and universal — 75% of people experience it. You are not alone, and it does not mean you are not capable.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03120"/>
            <a:ext cx="73152" cy="713232"/>
          </a:xfrm>
          <a:prstGeom prst="rect">
            <a:avLst/>
          </a:prstGeom>
          <a:solidFill>
            <a:srgbClr val="2C5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85416"/>
            <a:ext cx="548640" cy="548640"/>
          </a:xfrm>
          <a:prstGeom prst="ellipse">
            <a:avLst/>
          </a:prstGeom>
          <a:solidFill>
            <a:srgbClr val="2C5F9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10312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Preparation is your greatest weapon. The more you rehearse — alone, in front of a mirror, with friends — the more confident and natural you will sound on the actual day.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7132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054096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97180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Try the 3-second deep breath technique before your next presentation. It activates the calm system in your brain and signals to your body that you are safe.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713232"/>
          </a:xfrm>
          <a:prstGeom prst="rect">
            <a:avLst/>
          </a:prstGeom>
          <a:solidFill>
            <a:srgbClr val="F4F7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40480"/>
            <a:ext cx="73152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922776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22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</a:rPr>
              <a:t>“All the great speakers were bad speakers at first.” — Ralph Waldo Emerson. Public speaking is a skill, not a talent. Start speaking, start growing.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8BA6"/>
                </a:solidFill>
              </a:rPr>
              <a:t>Cite your sources — it shows research depth and builds credibility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 xml:space="preserve">[1]  </a:t>
            </a:r>
            <a:r>
              <a:rPr lang="en-US" sz="1100" dirty="0">
                <a:solidFill>
                  <a:srgbClr val="444444"/>
                </a:solidFill>
              </a:rPr>
              <a:t>Dwyer, K. K., &amp; Davidson, M. M. (2012). Is Public Speaking Really More Feared Than Death? Communication Research Reports, 29(2), 99–107.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56232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95681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 xml:space="preserve">[2]  </a:t>
            </a:r>
            <a:r>
              <a:rPr lang="en-US" sz="1100" dirty="0">
                <a:solidFill>
                  <a:srgbClr val="444444"/>
                </a:solidFill>
              </a:rPr>
              <a:t>Toastmasters International. (2022). Techniques for Overcoming Public Speaking Anxiety. Retrieved from https://www.toastmasters.org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551176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65176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 xml:space="preserve">[3]  </a:t>
            </a:r>
            <a:r>
              <a:rPr lang="en-US" sz="1100" dirty="0">
                <a:solidFill>
                  <a:srgbClr val="444444"/>
                </a:solidFill>
              </a:rPr>
              <a:t>National Institute of Mental Health. (2023). Social Anxiety Disorder &amp; Glossophobia. Retrieved from https://www.nimh.nih.gov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246120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346704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 xml:space="preserve">[4]  </a:t>
            </a:r>
            <a:r>
              <a:rPr lang="en-US" sz="1100" dirty="0">
                <a:solidFill>
                  <a:srgbClr val="444444"/>
                </a:solidFill>
              </a:rPr>
              <a:t>Anderson, C. (2016). TED Talks: The Official TED Guide to Public Speaking. Houghton Mifflin Harcourt.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41064"/>
            <a:ext cx="850392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041648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5F9E"/>
                </a:solidFill>
              </a:rPr>
              <a:t xml:space="preserve">[5]  </a:t>
            </a:r>
            <a:r>
              <a:rPr lang="en-US" sz="1100" dirty="0">
                <a:solidFill>
                  <a:srgbClr val="444444"/>
                </a:solidFill>
              </a:rPr>
              <a:t>Carnegie, D. (1936). The Art of Public Speaking and How to Win Friends &amp; Influence People. Simon &amp; Schuster.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C5F9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4A90D9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004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A623"/>
                </a:solidFill>
              </a:rPr>
              <a:t>We welcome your questions!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 xml:space="preserve">Presented by:  </a:t>
            </a:r>
            <a:r>
              <a:rPr lang="en-US" sz="1200" dirty="0">
                <a:solidFill>
                  <a:srgbClr val="CCDDFF"/>
                </a:solidFill>
              </a:rPr>
              <a:t>Member 1  •  Member 2  •  Member 3  •  Member 4  •  Member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623"/>
                </a:solidFill>
              </a:rPr>
              <a:t xml:space="preserve">Topic:  </a:t>
            </a:r>
            <a:r>
              <a:rPr lang="en-US" sz="1200" dirty="0">
                <a:solidFill>
                  <a:srgbClr val="CCDDFF"/>
                </a:solidFill>
              </a:rPr>
              <a:t>Public Speaking &amp; Stage Fear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029200" cy="1188720"/>
          </a:xfrm>
          <a:prstGeom prst="rect">
            <a:avLst/>
          </a:prstGeom>
          <a:solidFill>
            <a:srgbClr val="2C5F9E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520440"/>
            <a:ext cx="73152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547872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</a:rPr>
              <a:t>Q&amp;A Tips: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DEEFF"/>
                </a:solidFill>
              </a:rPr>
              <a:t>• Listen carefully before answering  •  It's OK to say 'That's a great question, let me think…'
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DEEFF"/>
                </a:solidFill>
              </a:rPr>
              <a:t>• Support teammates if they're asked about your topic  •  Be concise and confident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1105</Words>
  <Application>Microsoft Office PowerPoint</Application>
  <PresentationFormat>On-screen Show (16:9)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 Diploma Student Presentation Template</dc:title>
  <dc:subject>PptxGenJS Presentation</dc:subject>
  <dc:creator>CDAC</dc:creator>
  <cp:lastModifiedBy>Anshul Tailor</cp:lastModifiedBy>
  <cp:revision>2</cp:revision>
  <dcterms:created xsi:type="dcterms:W3CDTF">2026-04-20T11:19:52Z</dcterms:created>
  <dcterms:modified xsi:type="dcterms:W3CDTF">2026-04-20T11:25:47Z</dcterms:modified>
</cp:coreProperties>
</file>