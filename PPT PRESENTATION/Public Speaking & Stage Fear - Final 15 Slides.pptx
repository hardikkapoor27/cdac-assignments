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Default Extension="jpg" ContentType="image/jpeg"/>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7" r:id="rId17"/>
    <p:sldId id="259" r:id="rId5"/>
    <p:sldId id="260" r:id="rId6"/>
    <p:sldId id="268" r:id="rId18"/>
    <p:sldId id="269" r:id="rId19"/>
    <p:sldId id="261" r:id="rId7"/>
    <p:sldId id="270" r:id="rId20"/>
    <p:sldId id="271" r:id="rId21"/>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36" d="100"/>
          <a:sy n="136" d="100"/>
        </p:scale>
        <p:origin x="816" y="12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139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Fill in: (1) Your actual topic title, (2) Group member names, (3) Batch/Roll number, (4) Presentation date.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SLIDE — Replace the 6 agenda items with your actual section headings. Each member should own at least one section.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 State your name, introduce the topic, explain its importance. Keep this slide under 90 seconds. Use an image or diagram on the right side.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CONCEPTS — Replace icons, headings, and descriptions. Aim for 4 clear, distinct ideas. Use terminology specific to your topic.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SLIDE — Each member should own one content slide. Replace sub-heading, points, and example box. This is your primary individual assessment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EVIDENCE SLIDE — Replace placeholder stats with real data relevant to your topic. Cite sources. Charts and visuals boost your Slide Design score.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SLIDE — Ask an engaging question or run a quick activity. Audience interaction boosts your Individual Delivery score. Keep it to 2–3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 Each takeaway should correspond to a core idea from your presentation. Keep sentences short and impactful. This slide shows your group understood the topic deeply.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 Use APA or MLA format consistently. Aim for at least 3 quality sources (not just Wikipedia). This directly affects your Content Quality score in Section 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SLIDE — During Q&amp;A, any evaluator can ask any member about any part of the presentation. Review all sections, not just your own. Q&amp;A handling contributes 70% of your individual score in Section 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 Id="rId3" Type="http://schemas.openxmlformats.org/officeDocument/2006/relationships/image" Target="../media/slide3_fear.jpg"/></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 Id="rId3" Type="http://schemas.openxmlformats.org/officeDocument/2006/relationships/image" Target="../media/slide6_brain.jpg"/></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 Id="rId3" Type="http://schemas.openxmlformats.org/officeDocument/2006/relationships/image" Target="../media/slide9_chart.jpg"/></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0_breathe.jpg"/></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7_buffett.jpg"/></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0_breathe.jpg"/></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5A"/>
        </a:solidFill>
        <a:effectLst/>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rgbClr val="2C5F9E">
              <a:alpha val="50000"/>
            </a:srgbClr>
          </a:solidFill>
          <a:ln/>
        </p:spPr>
      </p:sp>
      <p:sp>
        <p:nvSpPr>
          <p:cNvPr id="3" name="Shape 1"/>
          <p:cNvSpPr/>
          <p:nvPr/>
        </p:nvSpPr>
        <p:spPr>
          <a:xfrm>
            <a:off x="7772400" y="0"/>
            <a:ext cx="1371600" cy="5143500"/>
          </a:xfrm>
          <a:prstGeom prst="rect">
            <a:avLst/>
          </a:prstGeom>
          <a:solidFill>
            <a:srgbClr val="4A90D9">
              <a:alpha val="40000"/>
            </a:srgbClr>
          </a:solidFill>
          <a:ln/>
        </p:spPr>
      </p:sp>
      <p:sp>
        <p:nvSpPr>
          <p:cNvPr id="4" name="Shape 2"/>
          <p:cNvSpPr/>
          <p:nvPr/>
        </p:nvSpPr>
        <p:spPr>
          <a:xfrm>
            <a:off x="0" y="4754880"/>
            <a:ext cx="6858000" cy="388620"/>
          </a:xfrm>
          <a:prstGeom prst="rect">
            <a:avLst/>
          </a:prstGeom>
          <a:solidFill>
            <a:srgbClr val="F5A623"/>
          </a:solidFill>
          <a:ln/>
        </p:spPr>
        <p:txBody>
          <a:bodyPr/>
          <a:lstStyle/>
          <a:p>
            <a:endParaRPr lang="en-IN" dirty="0"/>
          </a:p>
        </p:txBody>
      </p:sp>
      <p:sp>
        <p:nvSpPr>
          <p:cNvPr id="7" name="Shape 5"/>
          <p:cNvSpPr/>
          <p:nvPr/>
        </p:nvSpPr>
        <p:spPr>
          <a:xfrm>
            <a:off x="365760" y="960120"/>
            <a:ext cx="2048256" cy="256032"/>
          </a:xfrm>
          <a:prstGeom prst="roundRect">
            <a:avLst>
              <a:gd name="adj" fmla="val 17857"/>
            </a:avLst>
          </a:prstGeom>
          <a:solidFill>
            <a:srgbClr val="4A90D9"/>
          </a:solidFill>
          <a:ln/>
        </p:spPr>
      </p:sp>
      <p:sp>
        <p:nvSpPr>
          <p:cNvPr id="8" name="Text 6"/>
          <p:cNvSpPr/>
          <p:nvPr/>
        </p:nvSpPr>
        <p:spPr>
          <a:xfrm>
            <a:off x="365760" y="960120"/>
            <a:ext cx="2048256" cy="256032"/>
          </a:xfrm>
          <a:prstGeom prst="rect">
            <a:avLst/>
          </a:prstGeom>
          <a:noFill/>
          <a:ln/>
        </p:spPr>
        <p:txBody>
          <a:bodyPr wrap="square" lIns="0" tIns="0" rIns="0" bIns="0" rtlCol="0" anchor="ctr"/>
          <a:lstStyle/>
          <a:p>
            <a:pPr marL="0" indent="0" algn="ctr">
              <a:buNone/>
            </a:pPr>
            <a:r>
              <a:rPr lang="en-US" sz="900" b="1" dirty="0">
                <a:solidFill>
                  <a:srgbClr val="FFFFFF"/>
                </a:solidFill>
              </a:rPr>
              <a:t>PGCP Presentation</a:t>
            </a:r>
            <a:endParaRPr lang="en-US" sz="900" dirty="0"/>
          </a:p>
        </p:txBody>
      </p:sp>
      <p:sp>
        <p:nvSpPr>
          <p:cNvPr id="9" name="Text 7"/>
          <p:cNvSpPr txBox="1"/>
          <p:nvPr/>
        </p:nvSpPr>
        <p:spPr>
          <a:xfrm>
            <a:off x="365760" y="1371600"/>
            <a:ext cx="6217920" cy="1371600"/>
          </a:xfrm>
          <a:prstGeom prst="rect">
            <a:avLst/>
          </a:prstGeom>
          <a:noFill/>
          <a:ln/>
        </p:spPr>
        <p:txBody>
          <a:bodyPr wrap="square" lIns="0" tIns="0" rIns="0" bIns="0" rtlCol="0" anchor="t"/>
          <a:lstStyle/>
          <a:p>
            <a:pPr marL="0" indent="0" algn="l">
              <a:buNone/>
            </a:pPr>
            <a:r>
              <a:rPr lang="en-US" sz="3200" b="1" dirty="0">
                <a:solidFill>
                  <a:srgbClr val="FFFFFF"/>
                </a:solidFill>
                <a:latin typeface="Calibri" pitchFamily="34" charset="0"/>
                <a:ea typeface="Calibri" pitchFamily="34" charset="-122"/>
                <a:cs typeface="Calibri" pitchFamily="34" charset="-120"/>
              </a:rPr>
              <a:t>Public Speaking &amp; Stage Fear</a:t>
            </a:r>
            <a:endParaRPr lang="en-US" sz="3200" dirty="0"/>
          </a:p>
        </p:txBody>
      </p:sp>
      <p:sp>
        <p:nvSpPr>
          <p:cNvPr id="10" name="Text 8"/>
          <p:cNvSpPr/>
          <p:nvPr/>
        </p:nvSpPr>
        <p:spPr>
          <a:xfrm>
            <a:off x="365760" y="2834640"/>
            <a:ext cx="6217920" cy="502920"/>
          </a:xfrm>
          <a:prstGeom prst="rect">
            <a:avLst/>
          </a:prstGeom>
          <a:noFill/>
          <a:ln/>
        </p:spPr>
        <p:txBody>
          <a:bodyPr wrap="square" lIns="0" tIns="0" rIns="0" bIns="0" rtlCol="0" anchor="ctr"/>
          <a:lstStyle/>
          <a:p>
            <a:pPr marL="0" indent="0" algn="l">
              <a:buNone/>
            </a:pPr>
            <a:r>
              <a:rPr lang="en-US" sz="1300" i="1" dirty="0">
                <a:solidFill>
                  <a:srgbClr val="AABFDE"/>
                </a:solidFill>
              </a:rPr>
              <a:t>A Group Presentation on Communication &amp; Professional Development</a:t>
            </a:r>
            <a:endParaRPr lang="en-US" sz="1300" dirty="0"/>
          </a:p>
        </p:txBody>
      </p:sp>
      <p:sp>
        <p:nvSpPr>
          <p:cNvPr id="11" name="Text 9"/>
          <p:cNvSpPr/>
          <p:nvPr/>
        </p:nvSpPr>
        <p:spPr>
          <a:xfrm>
            <a:off x="365760" y="3429000"/>
            <a:ext cx="6217920" cy="365760"/>
          </a:xfrm>
          <a:prstGeom prst="rect">
            <a:avLst/>
          </a:prstGeom>
          <a:noFill/>
          <a:ln/>
        </p:spPr>
        <p:txBody>
          <a:bodyPr wrap="square" lIns="0" tIns="0" rIns="0" bIns="0" rtlCol="0" anchor="ctr"/>
          <a:lstStyle/>
          <a:p>
            <a:pPr marL="0" indent="0" algn="l">
              <a:buNone/>
            </a:pPr>
            <a:r>
              <a:rPr lang="en-US" sz="1100" b="1" dirty="0">
                <a:solidFill>
                  <a:srgbClr val="F5A623"/>
                </a:solidFill>
              </a:rPr>
              <a:t xml:space="preserve">Presented by:  </a:t>
            </a:r>
            <a:r>
              <a:rPr lang="en-US" sz="1100" dirty="0">
                <a:solidFill>
                  <a:srgbClr val="FFFFFF"/>
                </a:solidFill>
              </a:rPr>
              <a:t>Member 1  •  Member 2  •  Member 3  •  Member 4  •  Member 5</a:t>
            </a:r>
            <a:endParaRPr lang="en-US" sz="1100" dirty="0"/>
          </a:p>
        </p:txBody>
      </p:sp>
      <p:sp>
        <p:nvSpPr>
          <p:cNvPr id="12" name="Text 10"/>
          <p:cNvSpPr/>
          <p:nvPr/>
        </p:nvSpPr>
        <p:spPr>
          <a:xfrm>
            <a:off x="365760" y="3840480"/>
            <a:ext cx="6217920" cy="320040"/>
          </a:xfrm>
          <a:prstGeom prst="rect">
            <a:avLst/>
          </a:prstGeom>
          <a:noFill/>
          <a:ln/>
        </p:spPr>
        <p:txBody>
          <a:bodyPr wrap="square" lIns="0" tIns="0" rIns="0" bIns="0" rtlCol="0" anchor="ctr"/>
          <a:lstStyle/>
          <a:p>
            <a:pPr marL="0" indent="0" algn="l">
              <a:buNone/>
            </a:pPr>
            <a:r>
              <a:rPr lang="en-US" sz="1100" b="1" dirty="0">
                <a:solidFill>
                  <a:srgbClr val="F5A623"/>
                </a:solidFill>
              </a:rPr>
              <a:t xml:space="preserve">Batch / Roll No:  </a:t>
            </a:r>
            <a:r>
              <a:rPr lang="en-US" sz="1100" dirty="0">
                <a:solidFill>
                  <a:srgbClr val="FFFFFF"/>
                </a:solidFill>
              </a:rPr>
              <a:t xml:space="preserve">PGCP-XX  |  </a:t>
            </a:r>
            <a:r>
              <a:rPr lang="en-US" sz="1100" b="1" dirty="0">
                <a:solidFill>
                  <a:srgbClr val="F5A623"/>
                </a:solidFill>
              </a:rPr>
              <a:t xml:space="preserve">Date:  </a:t>
            </a:r>
            <a:r>
              <a:rPr lang="en-US" sz="1100" dirty="0">
                <a:solidFill>
                  <a:srgbClr val="FFFFFF"/>
                </a:solidFill>
              </a:rPr>
              <a:t>DD Month YYYY</a:t>
            </a:r>
            <a:endParaRPr lang="en-US" sz="1100" dirty="0"/>
          </a:p>
        </p:txBody>
      </p:sp>
      <p:sp>
        <p:nvSpPr>
          <p:cNvPr id="13" name="Text 11"/>
          <p:cNvSpPr/>
          <p:nvPr/>
        </p:nvSpPr>
        <p:spPr>
          <a:xfrm>
            <a:off x="365760" y="4754880"/>
            <a:ext cx="6858000" cy="388620"/>
          </a:xfrm>
          <a:prstGeom prst="rect">
            <a:avLst/>
          </a:prstGeom>
          <a:noFill/>
          <a:ln/>
        </p:spPr>
        <p:txBody>
          <a:bodyPr wrap="square" lIns="0" tIns="0" rIns="0" bIns="0" rtlCol="0" anchor="ctr"/>
          <a:lstStyle/>
          <a:p>
            <a:pPr marL="0" indent="0" algn="l">
              <a:buNone/>
            </a:pPr>
            <a:r>
              <a:rPr lang="en-US" sz="1000" b="1" dirty="0">
                <a:solidFill>
                  <a:srgbClr val="1A2E5A"/>
                </a:solidFill>
              </a:rPr>
              <a:t>C-DAC  •  PG Certificate Program •  AC/BDA/ITISS/ESD {Put your Course}</a:t>
            </a:r>
            <a:endParaRPr lang="en-US" sz="1000" dirty="0"/>
          </a:p>
        </p:txBody>
      </p:sp>
      <p:pic>
        <p:nvPicPr>
          <p:cNvPr id="15" name="Picture 14">
            <a:extLst>
              <a:ext uri="{FF2B5EF4-FFF2-40B4-BE49-F238E27FC236}">
                <a16:creationId xmlns:a16="http://schemas.microsoft.com/office/drawing/2014/main" id="{4577DFA4-F9D1-4772-A8A9-6AF3C93DDD59}"/>
              </a:ext>
            </a:extLst>
          </p:cNvPr>
          <p:cNvPicPr>
            <a:picLocks noChangeAspect="1"/>
          </p:cNvPicPr>
          <p:nvPr/>
        </p:nvPicPr>
        <p:blipFill>
          <a:blip r:embed="rId3"/>
          <a:stretch>
            <a:fillRect/>
          </a:stretch>
        </p:blipFill>
        <p:spPr>
          <a:xfrm>
            <a:off x="763327" y="95160"/>
            <a:ext cx="1065474" cy="7625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2E5A"/>
          </a:solidFill>
          <a:ln/>
        </p:spPr>
      </p:sp>
      <p:sp>
        <p:nvSpPr>
          <p:cNvPr id="3" name="Text 1"/>
          <p:cNvSpPr/>
          <p:nvPr/>
        </p:nvSpPr>
        <p:spPr>
          <a:xfrm>
            <a:off x="274320" y="274320"/>
            <a:ext cx="4572000" cy="502920"/>
          </a:xfrm>
          <a:prstGeom prst="rect">
            <a:avLst/>
          </a:prstGeom>
          <a:noFill/>
          <a:ln/>
        </p:spPr>
        <p:txBody>
          <a:bodyPr wrap="square" lIns="0" tIns="0" rIns="0" bIns="0" rtlCol="0" anchor="ctr"/>
          <a:lstStyle/>
          <a:p>
            <a:pPr marL="0" indent="0" algn="l">
              <a:buNone/>
            </a:pPr>
            <a:r>
              <a:rPr lang="en-US" sz="2800" b="1" dirty="0">
                <a:solidFill>
                  <a:srgbClr val="1A2E5A"/>
                </a:solidFill>
                <a:latin typeface="Calibri" pitchFamily="34" charset="0"/>
                <a:ea typeface="Calibri" pitchFamily="34" charset="-122"/>
                <a:cs typeface="Calibri" pitchFamily="34" charset="-120"/>
              </a:rPr>
              <a:t>Agenda</a:t>
            </a:r>
            <a:endParaRPr lang="en-US" sz="2800" dirty="0"/>
          </a:p>
        </p:txBody>
      </p:sp>
      <p:sp>
        <p:nvSpPr>
          <p:cNvPr id="4" name="Text 2"/>
          <p:cNvSpPr/>
          <p:nvPr/>
        </p:nvSpPr>
        <p:spPr>
          <a:xfrm>
            <a:off x="274320" y="804672"/>
            <a:ext cx="4572000" cy="274320"/>
          </a:xfrm>
          <a:prstGeom prst="rect">
            <a:avLst/>
          </a:prstGeom>
          <a:noFill/>
          <a:ln/>
        </p:spPr>
        <p:txBody>
          <a:bodyPr wrap="square" lIns="0" tIns="0" rIns="0" bIns="0" rtlCol="0" anchor="ctr"/>
          <a:lstStyle/>
          <a:p>
            <a:pPr marL="0" indent="0" algn="l">
              <a:buNone/>
            </a:pPr>
            <a:r>
              <a:rPr lang="en-US" sz="1200" i="1" dirty="0">
                <a:solidFill>
                  <a:srgbClr val="7A8BA6"/>
                </a:solidFill>
              </a:rPr>
              <a:t>What we will cover today</a:t>
            </a:r>
            <a:endParaRPr lang="en-US" sz="1200" dirty="0"/>
          </a:p>
        </p:txBody>
      </p:sp>
      <p:sp>
        <p:nvSpPr>
          <p:cNvPr id="5" name="Shape 3"/>
          <p:cNvSpPr/>
          <p:nvPr/>
        </p:nvSpPr>
        <p:spPr>
          <a:xfrm>
            <a:off x="274320" y="1307592"/>
            <a:ext cx="548640" cy="548640"/>
          </a:xfrm>
          <a:prstGeom prst="ellipse">
            <a:avLst/>
          </a:prstGeom>
          <a:solidFill>
            <a:srgbClr val="1A2E5A"/>
          </a:solidFill>
          <a:ln/>
        </p:spPr>
      </p:sp>
      <p:sp>
        <p:nvSpPr>
          <p:cNvPr id="6" name="Text 4"/>
          <p:cNvSpPr/>
          <p:nvPr/>
        </p:nvSpPr>
        <p:spPr>
          <a:xfrm>
            <a:off x="274320" y="1307592"/>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hape 5"/>
          <p:cNvSpPr/>
          <p:nvPr/>
        </p:nvSpPr>
        <p:spPr>
          <a:xfrm>
            <a:off x="914400" y="1234440"/>
            <a:ext cx="3657600" cy="694944"/>
          </a:xfrm>
          <a:prstGeom prst="rect">
            <a:avLst/>
          </a:prstGeom>
          <a:solidFill>
            <a:srgbClr val="FFFFFF"/>
          </a:solidFill>
          <a:ln/>
          <a:effectLst>
            <a:outerShdw blurRad="101600" dist="38100" dir="8100000" algn="bl" rotWithShape="0">
              <a:srgbClr val="000000">
                <a:alpha val="12000"/>
              </a:srgbClr>
            </a:outerShdw>
          </a:effectLst>
        </p:spPr>
      </p:sp>
      <p:sp>
        <p:nvSpPr>
          <p:cNvPr id="8" name="Text 6"/>
          <p:cNvSpPr/>
          <p:nvPr/>
        </p:nvSpPr>
        <p:spPr>
          <a:xfrm>
            <a:off x="1051560" y="1234440"/>
            <a:ext cx="3474720" cy="694944"/>
          </a:xfrm>
          <a:prstGeom prst="rect">
            <a:avLst/>
          </a:prstGeom>
          <a:noFill/>
          <a:ln/>
        </p:spPr>
        <p:txBody>
          <a:bodyPr wrap="square" lIns="0" tIns="0" rIns="0" bIns="0" rtlCol="0" anchor="ctr"/>
          <a:lstStyle/>
          <a:p>
            <a:pPr marL="0" indent="0" algn="l">
              <a:buNone/>
            </a:pPr>
            <a:r>
              <a:rPr lang="en-US" sz="1300" b="1" dirty="0">
                <a:solidFill>
                  <a:srgbClr val="1A2E5A"/>
                </a:solidFill>
              </a:rPr>
              <a:t>Member 1: What is Stage Fear &amp; Why It Matters</a:t>
            </a:r>
            <a:endParaRPr lang="en-US" sz="1300" dirty="0"/>
          </a:p>
        </p:txBody>
      </p:sp>
      <p:sp>
        <p:nvSpPr>
          <p:cNvPr id="9" name="Shape 7"/>
          <p:cNvSpPr/>
          <p:nvPr/>
        </p:nvSpPr>
        <p:spPr>
          <a:xfrm>
            <a:off x="274320" y="2404872"/>
            <a:ext cx="548640" cy="548640"/>
          </a:xfrm>
          <a:prstGeom prst="ellipse">
            <a:avLst/>
          </a:prstGeom>
          <a:solidFill>
            <a:srgbClr val="1A2E5A"/>
          </a:solidFill>
          <a:ln/>
        </p:spPr>
      </p:sp>
      <p:sp>
        <p:nvSpPr>
          <p:cNvPr id="10" name="Text 8"/>
          <p:cNvSpPr/>
          <p:nvPr/>
        </p:nvSpPr>
        <p:spPr>
          <a:xfrm>
            <a:off x="274320" y="2404872"/>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Shape 9"/>
          <p:cNvSpPr/>
          <p:nvPr/>
        </p:nvSpPr>
        <p:spPr>
          <a:xfrm>
            <a:off x="914400" y="2331720"/>
            <a:ext cx="3657600" cy="694944"/>
          </a:xfrm>
          <a:prstGeom prst="rect">
            <a:avLst/>
          </a:prstGeom>
          <a:solidFill>
            <a:srgbClr val="FFFFFF"/>
          </a:solidFill>
          <a:ln/>
          <a:effectLst>
            <a:outerShdw blurRad="101600" dist="38100" dir="8100000" algn="bl" rotWithShape="0">
              <a:srgbClr val="000000">
                <a:alpha val="12000"/>
              </a:srgbClr>
            </a:outerShdw>
          </a:effectLst>
        </p:spPr>
      </p:sp>
      <p:sp>
        <p:nvSpPr>
          <p:cNvPr id="12" name="Text 10"/>
          <p:cNvSpPr/>
          <p:nvPr/>
        </p:nvSpPr>
        <p:spPr>
          <a:xfrm>
            <a:off x="1051560" y="2331720"/>
            <a:ext cx="3474720" cy="694944"/>
          </a:xfrm>
          <a:prstGeom prst="rect">
            <a:avLst/>
          </a:prstGeom>
          <a:noFill/>
          <a:ln/>
        </p:spPr>
        <p:txBody>
          <a:bodyPr wrap="square" lIns="0" tIns="0" rIns="0" bIns="0" rtlCol="0" anchor="ctr"/>
          <a:lstStyle/>
          <a:p>
            <a:pPr marL="0" indent="0" algn="l">
              <a:buNone/>
            </a:pPr>
            <a:r>
              <a:rPr lang="en-US" sz="1300" dirty="0">
                <a:solidFill>
                  <a:srgbClr val="1A2E5A"/>
                </a:solidFill>
              </a:rPr>
              <a:t>Member 2: The Brain Science Behind Fear</a:t>
            </a:r>
            <a:endParaRPr lang="en-US" sz="1300" dirty="0"/>
          </a:p>
        </p:txBody>
      </p:sp>
      <p:sp>
        <p:nvSpPr>
          <p:cNvPr id="13" name="Shape 11"/>
          <p:cNvSpPr/>
          <p:nvPr/>
        </p:nvSpPr>
        <p:spPr>
          <a:xfrm>
            <a:off x="274320" y="3502152"/>
            <a:ext cx="548640" cy="548640"/>
          </a:xfrm>
          <a:prstGeom prst="ellipse">
            <a:avLst/>
          </a:prstGeom>
          <a:solidFill>
            <a:srgbClr val="1A2E5A"/>
          </a:solidFill>
          <a:ln/>
        </p:spPr>
      </p:sp>
      <p:sp>
        <p:nvSpPr>
          <p:cNvPr id="14" name="Text 12"/>
          <p:cNvSpPr/>
          <p:nvPr/>
        </p:nvSpPr>
        <p:spPr>
          <a:xfrm>
            <a:off x="274320" y="3502152"/>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5" name="Shape 13"/>
          <p:cNvSpPr/>
          <p:nvPr/>
        </p:nvSpPr>
        <p:spPr>
          <a:xfrm>
            <a:off x="914400" y="3429000"/>
            <a:ext cx="3657600" cy="694944"/>
          </a:xfrm>
          <a:prstGeom prst="rect">
            <a:avLst/>
          </a:prstGeom>
          <a:solidFill>
            <a:srgbClr val="FFFFFF"/>
          </a:solidFill>
          <a:ln/>
          <a:effectLst>
            <a:outerShdw blurRad="101600" dist="38100" dir="8100000" algn="bl" rotWithShape="0">
              <a:srgbClr val="000000">
                <a:alpha val="12000"/>
              </a:srgbClr>
            </a:outerShdw>
          </a:effectLst>
        </p:spPr>
      </p:sp>
      <p:sp>
        <p:nvSpPr>
          <p:cNvPr id="16" name="Text 14"/>
          <p:cNvSpPr/>
          <p:nvPr/>
        </p:nvSpPr>
        <p:spPr>
          <a:xfrm>
            <a:off x="1051560" y="3429000"/>
            <a:ext cx="3474720" cy="694944"/>
          </a:xfrm>
          <a:prstGeom prst="rect">
            <a:avLst/>
          </a:prstGeom>
          <a:noFill/>
          <a:ln/>
        </p:spPr>
        <p:txBody>
          <a:bodyPr wrap="square" lIns="0" tIns="0" rIns="0" bIns="0" rtlCol="0" anchor="ctr"/>
          <a:lstStyle/>
          <a:p>
            <a:pPr marL="0" indent="0" algn="l">
              <a:buNone/>
            </a:pPr>
            <a:r>
              <a:rPr lang="en-US" sz="1300" dirty="0">
                <a:solidFill>
                  <a:srgbClr val="1A2E5A"/>
                </a:solidFill>
              </a:rPr>
              <a:t>Member 3: Real People Who Overcame It</a:t>
            </a:r>
            <a:endParaRPr lang="en-US" sz="1300" dirty="0"/>
          </a:p>
        </p:txBody>
      </p:sp>
      <p:sp>
        <p:nvSpPr>
          <p:cNvPr id="17" name="Shape 15"/>
          <p:cNvSpPr/>
          <p:nvPr/>
        </p:nvSpPr>
        <p:spPr>
          <a:xfrm>
            <a:off x="4754880" y="1307592"/>
            <a:ext cx="548640" cy="548640"/>
          </a:xfrm>
          <a:prstGeom prst="ellipse">
            <a:avLst/>
          </a:prstGeom>
          <a:solidFill>
            <a:srgbClr val="4A90D9"/>
          </a:solidFill>
          <a:ln/>
        </p:spPr>
      </p:sp>
      <p:sp>
        <p:nvSpPr>
          <p:cNvPr id="18" name="Text 16"/>
          <p:cNvSpPr/>
          <p:nvPr/>
        </p:nvSpPr>
        <p:spPr>
          <a:xfrm>
            <a:off x="4754880" y="1307592"/>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9" name="Shape 17"/>
          <p:cNvSpPr/>
          <p:nvPr/>
        </p:nvSpPr>
        <p:spPr>
          <a:xfrm>
            <a:off x="5394960" y="1234440"/>
            <a:ext cx="3657600" cy="694944"/>
          </a:xfrm>
          <a:prstGeom prst="rect">
            <a:avLst/>
          </a:prstGeom>
          <a:solidFill>
            <a:srgbClr val="FFFFFF"/>
          </a:solidFill>
          <a:ln/>
          <a:effectLst>
            <a:outerShdw blurRad="101600" dist="38100" dir="8100000" algn="bl" rotWithShape="0">
              <a:srgbClr val="000000">
                <a:alpha val="12000"/>
              </a:srgbClr>
            </a:outerShdw>
          </a:effectLst>
        </p:spPr>
      </p:sp>
      <p:sp>
        <p:nvSpPr>
          <p:cNvPr id="20" name="Text 18"/>
          <p:cNvSpPr/>
          <p:nvPr/>
        </p:nvSpPr>
        <p:spPr>
          <a:xfrm>
            <a:off x="5532120" y="1234440"/>
            <a:ext cx="3474720" cy="694944"/>
          </a:xfrm>
          <a:prstGeom prst="rect">
            <a:avLst/>
          </a:prstGeom>
          <a:noFill/>
          <a:ln/>
        </p:spPr>
        <p:txBody>
          <a:bodyPr wrap="square" lIns="0" tIns="0" rIns="0" bIns="0" rtlCol="0" anchor="ctr"/>
          <a:lstStyle/>
          <a:p>
            <a:pPr marL="0" indent="0" algn="l">
              <a:buNone/>
            </a:pPr>
            <a:r>
              <a:rPr lang="en-US" sz="1300" dirty="0">
                <a:solidFill>
                  <a:srgbClr val="1A2E5A"/>
                </a:solidFill>
              </a:rPr>
              <a:t>Member 4: Data &amp; Proven Techniques</a:t>
            </a:r>
            <a:endParaRPr lang="en-US" sz="1300" dirty="0"/>
          </a:p>
        </p:txBody>
      </p:sp>
      <p:sp>
        <p:nvSpPr>
          <p:cNvPr id="21" name="Shape 19"/>
          <p:cNvSpPr/>
          <p:nvPr/>
        </p:nvSpPr>
        <p:spPr>
          <a:xfrm>
            <a:off x="4754880" y="2404872"/>
            <a:ext cx="548640" cy="548640"/>
          </a:xfrm>
          <a:prstGeom prst="ellipse">
            <a:avLst/>
          </a:prstGeom>
          <a:solidFill>
            <a:srgbClr val="4A90D9"/>
          </a:solidFill>
          <a:ln/>
        </p:spPr>
      </p:sp>
      <p:sp>
        <p:nvSpPr>
          <p:cNvPr id="22" name="Text 20"/>
          <p:cNvSpPr/>
          <p:nvPr/>
        </p:nvSpPr>
        <p:spPr>
          <a:xfrm>
            <a:off x="4754880" y="2404872"/>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3" name="Shape 21"/>
          <p:cNvSpPr/>
          <p:nvPr/>
        </p:nvSpPr>
        <p:spPr>
          <a:xfrm>
            <a:off x="5394960" y="2331720"/>
            <a:ext cx="3657600" cy="694944"/>
          </a:xfrm>
          <a:prstGeom prst="rect">
            <a:avLst/>
          </a:prstGeom>
          <a:solidFill>
            <a:srgbClr val="FFFFFF"/>
          </a:solidFill>
          <a:ln/>
          <a:effectLst>
            <a:outerShdw blurRad="101600" dist="38100" dir="8100000" algn="bl" rotWithShape="0">
              <a:srgbClr val="000000">
                <a:alpha val="12000"/>
              </a:srgbClr>
            </a:outerShdw>
          </a:effectLst>
        </p:spPr>
      </p:sp>
      <p:sp>
        <p:nvSpPr>
          <p:cNvPr id="24" name="Text 22"/>
          <p:cNvSpPr/>
          <p:nvPr/>
        </p:nvSpPr>
        <p:spPr>
          <a:xfrm>
            <a:off x="5532120" y="2331720"/>
            <a:ext cx="3474720" cy="694944"/>
          </a:xfrm>
          <a:prstGeom prst="rect">
            <a:avLst/>
          </a:prstGeom>
          <a:noFill/>
          <a:ln/>
        </p:spPr>
        <p:txBody>
          <a:bodyPr wrap="square" lIns="0" tIns="0" rIns="0" bIns="0" rtlCol="0" anchor="ctr"/>
          <a:lstStyle/>
          <a:p>
            <a:pPr marL="0" indent="0" algn="l">
              <a:buNone/>
            </a:pPr>
            <a:r>
              <a:rPr lang="en-US" sz="1300" dirty="0">
                <a:solidFill>
                  <a:srgbClr val="1A2E5A"/>
                </a:solidFill>
              </a:rPr>
              <a:t>Member 5: Discussion, Takeaways &amp; Close</a:t>
            </a:r>
            <a:endParaRPr lang="en-US" sz="1300" dirty="0"/>
          </a:p>
        </p:txBody>
      </p:sp>
      <p:sp>
        <p:nvSpPr>
          <p:cNvPr id="25" name="Shape 23"/>
          <p:cNvSpPr/>
          <p:nvPr/>
        </p:nvSpPr>
        <p:spPr>
          <a:xfrm>
            <a:off x="4754880" y="3502152"/>
            <a:ext cx="548640" cy="548640"/>
          </a:xfrm>
          <a:prstGeom prst="ellipse">
            <a:avLst/>
          </a:prstGeom>
          <a:solidFill>
            <a:srgbClr val="4A90D9"/>
          </a:solidFill>
          <a:ln/>
        </p:spPr>
      </p:sp>
      <p:sp>
        <p:nvSpPr>
          <p:cNvPr id="26" name="Text 24"/>
          <p:cNvSpPr/>
          <p:nvPr/>
        </p:nvSpPr>
        <p:spPr>
          <a:xfrm>
            <a:off x="4754880" y="3502152"/>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7" name="Shape 25"/>
          <p:cNvSpPr/>
          <p:nvPr/>
        </p:nvSpPr>
        <p:spPr>
          <a:xfrm>
            <a:off x="5394960" y="3429000"/>
            <a:ext cx="3657600" cy="694944"/>
          </a:xfrm>
          <a:prstGeom prst="rect">
            <a:avLst/>
          </a:prstGeom>
          <a:solidFill>
            <a:srgbClr val="FFFFFF"/>
          </a:solidFill>
          <a:ln/>
          <a:effectLst>
            <a:outerShdw blurRad="101600" dist="38100" dir="8100000" algn="bl" rotWithShape="0">
              <a:srgbClr val="000000">
                <a:alpha val="12000"/>
              </a:srgbClr>
            </a:outerShdw>
          </a:effectLst>
        </p:spPr>
      </p:sp>
      <p:sp>
        <p:nvSpPr>
          <p:cNvPr id="28" name="Text 26"/>
          <p:cNvSpPr/>
          <p:nvPr/>
        </p:nvSpPr>
        <p:spPr>
          <a:xfrm>
            <a:off x="5532120" y="3429000"/>
            <a:ext cx="3474720" cy="694944"/>
          </a:xfrm>
          <a:prstGeom prst="rect">
            <a:avLst/>
          </a:prstGeom>
          <a:noFill/>
          <a:ln/>
        </p:spPr>
        <p:txBody>
          <a:bodyPr wrap="square" lIns="0" tIns="0" rIns="0" bIns="0" rtlCol="0" anchor="ctr"/>
          <a:lstStyle/>
          <a:p>
            <a:pPr marL="0" indent="0" algn="l">
              <a:buNone/>
            </a:pPr>
            <a:r>
              <a:rPr lang="en-US" sz="1300" dirty="0">
                <a:solidFill>
                  <a:srgbClr val="1A2E5A"/>
                </a:solidFill>
              </a:rPr>
              <a:t>Q &amp; A + References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5A"/>
          </a:solidFill>
          <a:ln/>
        </p:spPr>
      </p:sp>
      <p:sp>
        <p:nvSpPr>
          <p:cNvPr id="3" name="Text 1"/>
          <p:cNvSpPr/>
          <p:nvPr/>
        </p:nvSpPr>
        <p:spPr>
          <a:xfrm>
            <a:off x="365760" y="0"/>
            <a:ext cx="4572000" cy="685800"/>
          </a:xfrm>
          <a:prstGeom prst="rect">
            <a:avLst/>
          </a:prstGeom>
          <a:noFill/>
          <a:ln/>
        </p:spPr>
        <p:txBody>
          <a:bodyPr wrap="square" lIns="0" tIns="0" rIns="0" bIns="0" rtlCol="0" anchor="ctr"/>
          <a:lstStyle/>
          <a:p>
            <a:pPr marL="0" indent="0" algn="l">
              <a:buNone/>
            </a:pPr>
            <a:r>
              <a:rPr lang="en-US" sz="2200" b="1" dirty="0">
                <a:solidFill>
                  <a:srgbClr val="FFFFFF"/>
                </a:solidFill>
              </a:rPr>
              <a:t>Introduction</a:t>
            </a:r>
            <a:endParaRPr lang="en-US" sz="2200" dirty="0"/>
          </a:p>
        </p:txBody>
      </p:sp>
      <p:sp>
        <p:nvSpPr>
          <p:cNvPr id="4" name="Shape 2"/>
          <p:cNvSpPr/>
          <p:nvPr/>
        </p:nvSpPr>
        <p:spPr>
          <a:xfrm>
            <a:off x="7863840" y="210312"/>
            <a:ext cx="1097280" cy="256032"/>
          </a:xfrm>
          <a:prstGeom prst="roundRect">
            <a:avLst>
              <a:gd name="adj" fmla="val 17857"/>
            </a:avLst>
          </a:prstGeom>
          <a:solidFill>
            <a:srgbClr val="4A90D9"/>
          </a:solidFill>
          <a:ln/>
        </p:spPr>
      </p:sp>
      <p:sp>
        <p:nvSpPr>
          <p:cNvPr id="5" name="Text 3"/>
          <p:cNvSpPr/>
          <p:nvPr/>
        </p:nvSpPr>
        <p:spPr>
          <a:xfrm>
            <a:off x="7863840" y="210312"/>
            <a:ext cx="109728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01</a:t>
            </a:r>
            <a:endParaRPr lang="en-US" sz="900" dirty="0"/>
          </a:p>
        </p:txBody>
      </p:sp>
      <p:sp>
        <p:nvSpPr>
          <p:cNvPr id="6" name="Text 4"/>
          <p:cNvSpPr/>
          <p:nvPr/>
        </p:nvSpPr>
        <p:spPr>
          <a:xfrm>
            <a:off x="365760" y="914400"/>
            <a:ext cx="4846320" cy="502920"/>
          </a:xfrm>
          <a:prstGeom prst="rect">
            <a:avLst/>
          </a:prstGeom>
          <a:noFill/>
          <a:ln/>
        </p:spPr>
        <p:txBody>
          <a:bodyPr wrap="square" lIns="0" tIns="0" rIns="0" bIns="0" rtlCol="0" anchor="ctr"/>
          <a:lstStyle/>
          <a:p>
            <a:pPr marL="0" indent="0" algn="l">
              <a:buNone/>
            </a:pPr>
            <a:r>
              <a:rPr lang="en-US" sz="2000" b="1" dirty="0">
                <a:solidFill>
                  <a:srgbClr val="1A2E5A"/>
                </a:solidFill>
              </a:rPr>
              <a:t>What Is Public Speaking &amp; Stage Fear?</a:t>
            </a:r>
            <a:endParaRPr lang="en-US" sz="2000" dirty="0"/>
          </a:p>
        </p:txBody>
      </p:sp>
      <p:sp>
        <p:nvSpPr>
          <p:cNvPr id="7" name="Text 5"/>
          <p:cNvSpPr/>
          <p:nvPr/>
        </p:nvSpPr>
        <p:spPr>
          <a:xfrm>
            <a:off x="365760" y="1508760"/>
            <a:ext cx="4846320" cy="2286000"/>
          </a:xfrm>
          <a:prstGeom prst="rect">
            <a:avLst/>
          </a:prstGeom>
          <a:noFill/>
          <a:ln/>
        </p:spPr>
        <p:txBody>
          <a:bodyPr wrap="square" lIns="0" tIns="0" rIns="0" bIns="0" rtlCol="0" anchor="t"/>
          <a:lstStyle/>
          <a:p>
            <a:pPr marL="0" indent="0" algn="l">
              <a:buNone/>
            </a:pPr>
            <a:r>
              <a:rPr lang="en-US" sz="1300" dirty="0">
                <a:solidFill>
                  <a:srgbClr val="3A3A3A"/>
                </a:solidFill>
              </a:rPr>
              <a:t>Public speaking means delivering ideas to a live audience — in class presentations, job interviews, team meetings, even answering questions. Stage fear (Glossophobia) is the intense anxiety that arises when doing so.</a:t>
            </a:r>
            <a:endParaRPr lang="en-US" sz="1300" dirty="0"/>
          </a:p>
          <a:p>
            <a:pPr marL="0" indent="0" algn="l">
              <a:buNone/>
            </a:pPr>
            <a:r>
              <a:rPr lang="en-US" sz="1300" dirty="0">
                <a:solidFill>
                  <a:srgbClr val="3A3A3A"/>
                </a:solidFill>
              </a:rPr>
              <a:t xml:space="preserve"> </a:t>
            </a:r>
            <a:endParaRPr lang="en-US" sz="1300" dirty="0"/>
          </a:p>
          <a:p>
            <a:pPr marL="0" indent="0" algn="l">
              <a:buNone/>
            </a:pPr>
            <a:r>
              <a:rPr lang="en-US" sz="1300" dirty="0">
                <a:solidFill>
                  <a:srgbClr val="3A3A3A"/>
                </a:solidFill>
              </a:rPr>
              <a:t>Symptoms: shaking hands, dry mouth, racing heart, blank mind, trembling voice. It exists on a spectrum from mild butterflies to full panic attacks — and affects students, professionals, and world leaders equally.</a:t>
            </a:r>
            <a:endParaRPr lang="en-US" sz="1300" dirty="0"/>
          </a:p>
          <a:p>
            <a:pPr marL="0" indent="0" algn="l">
              <a:buNone/>
            </a:pPr>
            <a:r>
              <a:rPr lang="en-US" sz="1300" dirty="0">
                <a:solidFill>
                  <a:srgbClr val="3A3A3A"/>
                </a:solidFill>
              </a:rPr>
              <a:t xml:space="preserve"> </a:t>
            </a:r>
            <a:endParaRPr lang="en-US" sz="1300" dirty="0"/>
          </a:p>
          <a:p>
            <a:pPr marL="0" indent="0" algn="l">
              <a:buNone/>
            </a:pPr>
            <a:r>
              <a:rPr lang="en-US" sz="1300" dirty="0">
                <a:solidFill>
                  <a:srgbClr val="3A3A3A"/>
                </a:solidFill>
              </a:rPr>
              <a:t>💡 Stat: 75% of people fear public speaking more than death — making it the world's most common phobia.</a:t>
            </a:r>
            <a:endParaRPr lang="en-US" sz="1300" dirty="0"/>
          </a:p>
        </p:txBody>
      </p:sp>
      <p:sp>
        <p:nvSpPr>
          <p:cNvPr id="8" name="Shape 6"/>
          <p:cNvSpPr/>
          <p:nvPr/>
        </p:nvSpPr>
        <p:spPr>
          <a:xfrm>
            <a:off x="365760" y="3977640"/>
            <a:ext cx="4846320" cy="777240"/>
          </a:xfrm>
          <a:prstGeom prst="rect">
            <a:avLst/>
          </a:prstGeom>
          <a:solidFill>
            <a:srgbClr val="E8EFF8"/>
          </a:solidFill>
          <a:ln/>
        </p:spPr>
      </p:sp>
      <p:sp>
        <p:nvSpPr>
          <p:cNvPr id="10" name="Text 8"/>
          <p:cNvSpPr/>
          <p:nvPr/>
        </p:nvSpPr>
        <p:spPr>
          <a:xfrm>
            <a:off x="502920" y="3977640"/>
            <a:ext cx="4663440" cy="777240"/>
          </a:xfrm>
          <a:prstGeom prst="rect">
            <a:avLst/>
          </a:prstGeom>
          <a:noFill/>
          <a:ln/>
        </p:spPr>
        <p:txBody>
          <a:bodyPr wrap="square" lIns="0" tIns="0" rIns="0" bIns="0" rtlCol="0" anchor="ctr"/>
          <a:lstStyle/>
          <a:p>
            <a:pPr marL="0" indent="0" algn="l">
              <a:buNone/>
            </a:pPr>
            <a:r>
              <a:rPr lang="en-US" sz="1100" b="1" dirty="0">
                <a:solidFill>
                  <a:srgbClr val="F5A623"/>
                </a:solidFill>
              </a:rPr>
              <a:t xml:space="preserve"> Speaker Note: </a:t>
            </a:r>
            <a:r>
              <a:rPr lang="en-US" sz="1100" dirty="0">
                <a:solidFill>
                  <a:srgbClr val="1A2E5A"/>
                </a:solidFill>
              </a:rPr>
              <a:t>State your name before you begin. E.g. "Hi, I'm [Name], I'll introduce today's topic."</a:t>
            </a:r>
            <a:endParaRPr lang="en-US" sz="1100" dirty="0"/>
          </a:p>
        </p:txBody>
      </p:sp>
      <p:sp>
        <p:nvSpPr>
          <p:cNvPr id="12" name="Text 10"/>
          <p:cNvSpPr/>
          <p:nvPr/>
        </p:nvSpPr>
        <p:spPr>
          <a:xfrm>
            <a:off x="5577840" y="914400"/>
            <a:ext cx="3200400" cy="3200400"/>
          </a:xfrm>
          <a:prstGeom prst="rect">
            <a:avLst/>
          </a:prstGeom>
          <a:noFill/>
          <a:ln/>
        </p:spPr>
        <p:txBody>
          <a:bodyPr wrap="square" lIns="0" tIns="0" rIns="0" bIns="0" rtlCol="0" anchor="ctr"/>
          <a:lstStyle/>
          <a:p>
            <a:pPr marL="0" indent="0" algn="ctr">
              <a:buNone/>
            </a:pPr>
            <a:r>
              <a:rPr lang="en-US" sz="2800" dirty="0">
                <a:solidFill>
                  <a:srgbClr val="7A8BA6"/>
                </a:solidFill>
              </a:rPr>
              <a:t>📷
</a:t>
            </a:r>
            <a:r>
              <a:rPr lang="en-US" sz="1200" b="1" dirty="0">
                <a:solidFill>
                  <a:srgbClr val="7A8BA6"/>
                </a:solidFill>
              </a:rPr>
              <a:t xml:space="preserve"> Add Image / Diagram
</a:t>
            </a:r>
            <a:endParaRPr lang="en-US" sz="1200" dirty="0"/>
          </a:p>
          <a:p>
            <a:pPr marL="0" indent="0" algn="ctr">
              <a:buNone/>
            </a:pPr>
            <a:r>
              <a:rPr lang="en-US" sz="1000" i="1" dirty="0">
                <a:solidFill>
                  <a:srgbClr val="7A8BA6"/>
                </a:solidFill>
              </a:rPr>
              <a:t>(relevant to your topic)</a:t>
            </a:r>
            <a:endParaRPr lang="en-US" sz="1200" dirty="0"/>
          </a:p>
        </p:txBody>
      </p:sp>
      <p:pic xmlns:p="http://schemas.openxmlformats.org/presentationml/2006/main" xmlns:a="http://schemas.openxmlformats.org/drawingml/2006/main" xmlns:r="http://schemas.openxmlformats.org/officeDocument/2006/relationships">
        <p:nvPicPr>
          <p:cNvPr id="999" name="EmbeddedImage_rId3"/>
          <p:cNvPicPr>
            <a:picLocks noChangeAspect="1"/>
          </p:cNvPicPr>
          <p:nvPr/>
        </p:nvPicPr>
        <p:blipFill>
          <a:blip r:embed="rId3"/>
          <a:stretch>
            <a:fillRect/>
          </a:stretch>
        </p:blipFill>
        <p:spPr>
          <a:xfrm>
            <a:off x="5577840" y="914400"/>
            <a:ext cx="3200400" cy="3200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5F9E"/>
          </a:solidFill>
          <a:ln/>
        </p:spPr>
      </p:sp>
      <p:sp>
        <p:nvSpPr>
          <p:cNvPr id="3" name="Text 1"/>
          <p:cNvSpPr/>
          <p:nvPr/>
        </p:nvSpPr>
        <p:spPr>
          <a:xfrm>
            <a:off x="365760" y="0"/>
            <a:ext cx="6400800" cy="685800"/>
          </a:xfrm>
          <a:prstGeom prst="rect">
            <a:avLst/>
          </a:prstGeom>
          <a:noFill/>
          <a:ln/>
        </p:spPr>
        <p:txBody>
          <a:bodyPr wrap="square" lIns="0" tIns="0" rIns="0" bIns="0" rtlCol="0" anchor="ctr"/>
          <a:lstStyle/>
          <a:p>
            <a:pPr marL="0" indent="0" algn="l">
              <a:buNone/>
            </a:pPr>
            <a:r>
              <a:rPr lang="en-US" sz="2200" b="1" dirty="0">
                <a:solidFill>
                  <a:srgbClr val="FFFFFF"/>
                </a:solidFill>
              </a:rPr>
              <a:t>Key Concepts</a:t>
            </a:r>
            <a:endParaRPr lang="en-US" sz="2200" dirty="0"/>
          </a:p>
        </p:txBody>
      </p:sp>
      <p:sp>
        <p:nvSpPr>
          <p:cNvPr id="4" name="Shape 2"/>
          <p:cNvSpPr/>
          <p:nvPr/>
        </p:nvSpPr>
        <p:spPr>
          <a:xfrm>
            <a:off x="7863840" y="210312"/>
            <a:ext cx="1097280" cy="256032"/>
          </a:xfrm>
          <a:prstGeom prst="roundRect">
            <a:avLst>
              <a:gd name="adj" fmla="val 17857"/>
            </a:avLst>
          </a:prstGeom>
          <a:solidFill>
            <a:srgbClr val="4A90D9"/>
          </a:solidFill>
          <a:ln/>
        </p:spPr>
      </p:sp>
      <p:sp>
        <p:nvSpPr>
          <p:cNvPr id="5" name="Text 3"/>
          <p:cNvSpPr/>
          <p:nvPr/>
        </p:nvSpPr>
        <p:spPr>
          <a:xfrm>
            <a:off x="7863840" y="210312"/>
            <a:ext cx="109728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02</a:t>
            </a:r>
            <a:endParaRPr lang="en-US" sz="900" dirty="0"/>
          </a:p>
        </p:txBody>
      </p:sp>
      <p:sp>
        <p:nvSpPr>
          <p:cNvPr id="6" name="Text 4"/>
          <p:cNvSpPr/>
          <p:nvPr/>
        </p:nvSpPr>
        <p:spPr>
          <a:xfrm>
            <a:off x="365760" y="777240"/>
            <a:ext cx="8229600" cy="320040"/>
          </a:xfrm>
          <a:prstGeom prst="rect">
            <a:avLst/>
          </a:prstGeom>
          <a:noFill/>
          <a:ln/>
        </p:spPr>
        <p:txBody>
          <a:bodyPr wrap="square" lIns="0" tIns="0" rIns="0" bIns="0" rtlCol="0" anchor="ctr"/>
          <a:lstStyle/>
          <a:p>
            <a:pPr marL="0" indent="0" algn="l">
              <a:buNone/>
            </a:pPr>
            <a:r>
              <a:rPr lang="en-US" sz="1200" i="1" dirty="0">
                <a:solidFill>
                  <a:srgbClr val="7A8BA6"/>
                </a:solidFill>
              </a:rPr>
              <a:t>The science behind why we freeze when we speak</a:t>
            </a:r>
            <a:endParaRPr lang="en-US" sz="1200" dirty="0"/>
          </a:p>
        </p:txBody>
      </p:sp>
      <p:sp>
        <p:nvSpPr>
          <p:cNvPr id="7" name="Shape 5"/>
          <p:cNvSpPr/>
          <p:nvPr/>
        </p:nvSpPr>
        <p:spPr>
          <a:xfrm>
            <a:off x="274320" y="1188720"/>
            <a:ext cx="4114800" cy="1554480"/>
          </a:xfrm>
          <a:prstGeom prst="rect">
            <a:avLst/>
          </a:prstGeom>
          <a:solidFill>
            <a:srgbClr val="FFFFFF"/>
          </a:solidFill>
          <a:ln/>
          <a:effectLst>
            <a:outerShdw blurRad="101600" dist="38100" dir="8100000" algn="bl" rotWithShape="0">
              <a:srgbClr val="000000">
                <a:alpha val="12000"/>
              </a:srgbClr>
            </a:outerShdw>
          </a:effectLst>
        </p:spPr>
      </p:sp>
      <p:sp>
        <p:nvSpPr>
          <p:cNvPr id="8" name="Shape 6"/>
          <p:cNvSpPr/>
          <p:nvPr/>
        </p:nvSpPr>
        <p:spPr>
          <a:xfrm>
            <a:off x="274320" y="1188720"/>
            <a:ext cx="4114800" cy="73152"/>
          </a:xfrm>
          <a:prstGeom prst="rect">
            <a:avLst/>
          </a:prstGeom>
          <a:solidFill>
            <a:srgbClr val="1A2E5A"/>
          </a:solidFill>
          <a:ln/>
        </p:spPr>
      </p:sp>
      <p:sp>
        <p:nvSpPr>
          <p:cNvPr id="9" name="Text 7"/>
          <p:cNvSpPr/>
          <p:nvPr/>
        </p:nvSpPr>
        <p:spPr>
          <a:xfrm>
            <a:off x="411480" y="1353312"/>
            <a:ext cx="502920" cy="502920"/>
          </a:xfrm>
          <a:prstGeom prst="rect">
            <a:avLst/>
          </a:prstGeom>
          <a:noFill/>
          <a:ln/>
        </p:spPr>
        <p:txBody>
          <a:bodyPr wrap="square" lIns="0" tIns="0" rIns="0" bIns="0" rtlCol="0" anchor="ctr"/>
          <a:lstStyle/>
          <a:p>
            <a:pPr marL="0" indent="0" algn="ctr">
              <a:buNone/>
            </a:pPr>
            <a:endParaRPr lang="en-US" sz="2200" dirty="0"/>
          </a:p>
        </p:txBody>
      </p:sp>
      <p:sp>
        <p:nvSpPr>
          <p:cNvPr id="10" name="Text 8"/>
          <p:cNvSpPr/>
          <p:nvPr/>
        </p:nvSpPr>
        <p:spPr>
          <a:xfrm>
            <a:off x="960120" y="1325880"/>
            <a:ext cx="3291840" cy="365760"/>
          </a:xfrm>
          <a:prstGeom prst="rect">
            <a:avLst/>
          </a:prstGeom>
          <a:noFill/>
          <a:ln/>
        </p:spPr>
        <p:txBody>
          <a:bodyPr wrap="square" lIns="0" tIns="0" rIns="0" bIns="0" rtlCol="0" anchor="ctr"/>
          <a:lstStyle/>
          <a:p>
            <a:pPr marL="0" indent="0" algn="l">
              <a:buNone/>
            </a:pPr>
            <a:r>
              <a:rPr lang="en-US" sz="1400" b="1" dirty="0">
                <a:solidFill>
                  <a:srgbClr val="1A2E5A"/>
                </a:solidFill>
              </a:rPr>
              <a:t>Glossophobia</a:t>
            </a:r>
            <a:endParaRPr lang="en-US" sz="1400" dirty="0"/>
          </a:p>
        </p:txBody>
      </p:sp>
      <p:sp>
        <p:nvSpPr>
          <p:cNvPr id="11" name="Text 9"/>
          <p:cNvSpPr/>
          <p:nvPr/>
        </p:nvSpPr>
        <p:spPr>
          <a:xfrm>
            <a:off x="411480" y="1783080"/>
            <a:ext cx="3840480" cy="822960"/>
          </a:xfrm>
          <a:prstGeom prst="rect">
            <a:avLst/>
          </a:prstGeom>
          <a:noFill/>
          <a:ln/>
        </p:spPr>
        <p:txBody>
          <a:bodyPr wrap="square" lIns="0" tIns="0" rIns="0" bIns="0" rtlCol="0" anchor="t"/>
          <a:lstStyle/>
          <a:p>
            <a:pPr marL="0" indent="0" algn="l">
              <a:buNone/>
            </a:pPr>
            <a:r>
              <a:rPr lang="en-US" sz="1100" dirty="0">
                <a:solidFill>
                  <a:srgbClr val="444444"/>
                </a:solidFill>
              </a:rPr>
              <a:t>From Greek: glossa (tongue) + phobos (fear). Affects 75% of people globally. Symptoms: shaking, dry mouth, racing heart, blank mind. It is classified as a type of Social Anxiety.</a:t>
            </a:r>
            <a:endParaRPr lang="en-US" sz="1100" dirty="0"/>
          </a:p>
        </p:txBody>
      </p:sp>
      <p:sp>
        <p:nvSpPr>
          <p:cNvPr id="12" name="Shape 10"/>
          <p:cNvSpPr/>
          <p:nvPr/>
        </p:nvSpPr>
        <p:spPr>
          <a:xfrm>
            <a:off x="4709160" y="1188720"/>
            <a:ext cx="4114800" cy="1554480"/>
          </a:xfrm>
          <a:prstGeom prst="rect">
            <a:avLst/>
          </a:prstGeom>
          <a:solidFill>
            <a:srgbClr val="FFFFFF"/>
          </a:solidFill>
          <a:ln/>
          <a:effectLst>
            <a:outerShdw blurRad="101600" dist="38100" dir="8100000" algn="bl" rotWithShape="0">
              <a:srgbClr val="000000">
                <a:alpha val="12000"/>
              </a:srgbClr>
            </a:outerShdw>
          </a:effectLst>
        </p:spPr>
      </p:sp>
      <p:sp>
        <p:nvSpPr>
          <p:cNvPr id="13" name="Shape 11"/>
          <p:cNvSpPr/>
          <p:nvPr/>
        </p:nvSpPr>
        <p:spPr>
          <a:xfrm>
            <a:off x="4709160" y="1188720"/>
            <a:ext cx="4114800" cy="73152"/>
          </a:xfrm>
          <a:prstGeom prst="rect">
            <a:avLst/>
          </a:prstGeom>
          <a:solidFill>
            <a:srgbClr val="1A2E5A"/>
          </a:solidFill>
          <a:ln/>
        </p:spPr>
      </p:sp>
      <p:sp>
        <p:nvSpPr>
          <p:cNvPr id="14" name="Text 12"/>
          <p:cNvSpPr/>
          <p:nvPr/>
        </p:nvSpPr>
        <p:spPr>
          <a:xfrm>
            <a:off x="4846320" y="1353312"/>
            <a:ext cx="502920" cy="502920"/>
          </a:xfrm>
          <a:prstGeom prst="rect">
            <a:avLst/>
          </a:prstGeom>
          <a:noFill/>
          <a:ln/>
        </p:spPr>
        <p:txBody>
          <a:bodyPr wrap="square" lIns="0" tIns="0" rIns="0" bIns="0" rtlCol="0" anchor="ctr"/>
          <a:lstStyle/>
          <a:p>
            <a:pPr marL="0" indent="0" algn="ctr">
              <a:buNone/>
            </a:pPr>
            <a:endParaRPr lang="en-US" sz="2200" dirty="0"/>
          </a:p>
        </p:txBody>
      </p:sp>
      <p:sp>
        <p:nvSpPr>
          <p:cNvPr id="15" name="Text 13"/>
          <p:cNvSpPr/>
          <p:nvPr/>
        </p:nvSpPr>
        <p:spPr>
          <a:xfrm>
            <a:off x="5394960" y="1325880"/>
            <a:ext cx="3291840" cy="365760"/>
          </a:xfrm>
          <a:prstGeom prst="rect">
            <a:avLst/>
          </a:prstGeom>
          <a:noFill/>
          <a:ln/>
        </p:spPr>
        <p:txBody>
          <a:bodyPr wrap="square" lIns="0" tIns="0" rIns="0" bIns="0" rtlCol="0" anchor="ctr"/>
          <a:lstStyle/>
          <a:p>
            <a:pPr marL="0" indent="0" algn="l">
              <a:buNone/>
            </a:pPr>
            <a:r>
              <a:rPr lang="en-US" sz="1400" b="1" dirty="0">
                <a:solidFill>
                  <a:srgbClr val="1A2E5A"/>
                </a:solidFill>
              </a:rPr>
              <a:t>The Amygdala Hijack</a:t>
            </a:r>
            <a:endParaRPr lang="en-US" sz="1400" dirty="0"/>
          </a:p>
        </p:txBody>
      </p:sp>
      <p:sp>
        <p:nvSpPr>
          <p:cNvPr id="16" name="Text 14"/>
          <p:cNvSpPr/>
          <p:nvPr/>
        </p:nvSpPr>
        <p:spPr>
          <a:xfrm>
            <a:off x="4846320" y="1783080"/>
            <a:ext cx="3840480" cy="822960"/>
          </a:xfrm>
          <a:prstGeom prst="rect">
            <a:avLst/>
          </a:prstGeom>
          <a:noFill/>
          <a:ln/>
        </p:spPr>
        <p:txBody>
          <a:bodyPr wrap="square" lIns="0" tIns="0" rIns="0" bIns="0" rtlCol="0" anchor="t"/>
          <a:lstStyle/>
          <a:p>
            <a:pPr marL="0" indent="0" algn="l">
              <a:buNone/>
            </a:pPr>
            <a:r>
              <a:rPr lang="en-US" sz="1100" dirty="0">
                <a:solidFill>
                  <a:srgbClr val="444444"/>
                </a:solidFill>
              </a:rPr>
              <a:t>The amygdala (brain's alarm) cannot tell apart a lion from an audience. It fires the same threat signal. Your logical brain gets partially overridden — this is called Amygdala Hijack.</a:t>
            </a:r>
            <a:endParaRPr lang="en-US" sz="1100" dirty="0"/>
          </a:p>
        </p:txBody>
      </p:sp>
      <p:sp>
        <p:nvSpPr>
          <p:cNvPr id="17" name="Shape 15"/>
          <p:cNvSpPr/>
          <p:nvPr/>
        </p:nvSpPr>
        <p:spPr>
          <a:xfrm>
            <a:off x="274320" y="2971800"/>
            <a:ext cx="4114800" cy="1554480"/>
          </a:xfrm>
          <a:prstGeom prst="rect">
            <a:avLst/>
          </a:prstGeom>
          <a:solidFill>
            <a:srgbClr val="FFFFFF"/>
          </a:solidFill>
          <a:ln/>
          <a:effectLst>
            <a:outerShdw blurRad="101600" dist="38100" dir="8100000" algn="bl" rotWithShape="0">
              <a:srgbClr val="000000">
                <a:alpha val="12000"/>
              </a:srgbClr>
            </a:outerShdw>
          </a:effectLst>
        </p:spPr>
      </p:sp>
      <p:sp>
        <p:nvSpPr>
          <p:cNvPr id="18" name="Shape 16"/>
          <p:cNvSpPr/>
          <p:nvPr/>
        </p:nvSpPr>
        <p:spPr>
          <a:xfrm>
            <a:off x="274320" y="2971800"/>
            <a:ext cx="4114800" cy="73152"/>
          </a:xfrm>
          <a:prstGeom prst="rect">
            <a:avLst/>
          </a:prstGeom>
          <a:solidFill>
            <a:srgbClr val="4A90D9"/>
          </a:solidFill>
          <a:ln/>
        </p:spPr>
      </p:sp>
      <p:sp>
        <p:nvSpPr>
          <p:cNvPr id="19" name="Text 17"/>
          <p:cNvSpPr/>
          <p:nvPr/>
        </p:nvSpPr>
        <p:spPr>
          <a:xfrm>
            <a:off x="411480" y="3136392"/>
            <a:ext cx="502920" cy="502920"/>
          </a:xfrm>
          <a:prstGeom prst="rect">
            <a:avLst/>
          </a:prstGeom>
          <a:noFill/>
          <a:ln/>
        </p:spPr>
        <p:txBody>
          <a:bodyPr wrap="square" lIns="0" tIns="0" rIns="0" bIns="0" rtlCol="0" anchor="ctr"/>
          <a:lstStyle/>
          <a:p>
            <a:pPr marL="0" indent="0" algn="ctr">
              <a:buNone/>
            </a:pPr>
            <a:endParaRPr lang="en-US" sz="2200" dirty="0"/>
          </a:p>
        </p:txBody>
      </p:sp>
      <p:sp>
        <p:nvSpPr>
          <p:cNvPr id="20" name="Text 18"/>
          <p:cNvSpPr/>
          <p:nvPr/>
        </p:nvSpPr>
        <p:spPr>
          <a:xfrm>
            <a:off x="960120" y="3108960"/>
            <a:ext cx="3291840" cy="365760"/>
          </a:xfrm>
          <a:prstGeom prst="rect">
            <a:avLst/>
          </a:prstGeom>
          <a:noFill/>
          <a:ln/>
        </p:spPr>
        <p:txBody>
          <a:bodyPr wrap="square" lIns="0" tIns="0" rIns="0" bIns="0" rtlCol="0" anchor="ctr"/>
          <a:lstStyle/>
          <a:p>
            <a:pPr marL="0" indent="0" algn="l">
              <a:buNone/>
            </a:pPr>
            <a:r>
              <a:rPr lang="en-US" sz="1400" b="1" dirty="0">
                <a:solidFill>
                  <a:srgbClr val="1A2E5A"/>
                </a:solidFill>
              </a:rPr>
              <a:t>Nervousness vs Anxiety</a:t>
            </a:r>
            <a:endParaRPr lang="en-US" sz="1400" dirty="0"/>
          </a:p>
        </p:txBody>
      </p:sp>
      <p:sp>
        <p:nvSpPr>
          <p:cNvPr id="21" name="Text 19"/>
          <p:cNvSpPr/>
          <p:nvPr/>
        </p:nvSpPr>
        <p:spPr>
          <a:xfrm>
            <a:off x="411480" y="3566160"/>
            <a:ext cx="3840480" cy="822960"/>
          </a:xfrm>
          <a:prstGeom prst="rect">
            <a:avLst/>
          </a:prstGeom>
          <a:noFill/>
          <a:ln/>
        </p:spPr>
        <p:txBody>
          <a:bodyPr wrap="square" lIns="0" tIns="0" rIns="0" bIns="0" rtlCol="0" anchor="t"/>
          <a:lstStyle/>
          <a:p>
            <a:pPr marL="0" indent="0" algn="l">
              <a:buNone/>
            </a:pPr>
            <a:r>
              <a:rPr lang="en-US" sz="1100" dirty="0">
                <a:solidFill>
                  <a:srgbClr val="444444"/>
                </a:solidFill>
              </a:rPr>
              <a:t>Nervousness = mild, manageable, and actually sharpens focus. Anxiety = overwhelming and disruptive. Harvard research (Brooks, 2014): reframing nerves as excitement improves performance significantly.</a:t>
            </a:r>
            <a:endParaRPr lang="en-US" sz="1100" dirty="0"/>
          </a:p>
        </p:txBody>
      </p:sp>
      <p:sp>
        <p:nvSpPr>
          <p:cNvPr id="22" name="Shape 20"/>
          <p:cNvSpPr/>
          <p:nvPr/>
        </p:nvSpPr>
        <p:spPr>
          <a:xfrm>
            <a:off x="4709160" y="2971800"/>
            <a:ext cx="4114800" cy="1554480"/>
          </a:xfrm>
          <a:prstGeom prst="rect">
            <a:avLst/>
          </a:prstGeom>
          <a:solidFill>
            <a:srgbClr val="FFFFFF"/>
          </a:solidFill>
          <a:ln/>
          <a:effectLst>
            <a:outerShdw blurRad="101600" dist="38100" dir="8100000" algn="bl" rotWithShape="0">
              <a:srgbClr val="000000">
                <a:alpha val="12000"/>
              </a:srgbClr>
            </a:outerShdw>
          </a:effectLst>
        </p:spPr>
      </p:sp>
      <p:sp>
        <p:nvSpPr>
          <p:cNvPr id="23" name="Shape 21"/>
          <p:cNvSpPr/>
          <p:nvPr/>
        </p:nvSpPr>
        <p:spPr>
          <a:xfrm>
            <a:off x="4709160" y="2971800"/>
            <a:ext cx="4114800" cy="73152"/>
          </a:xfrm>
          <a:prstGeom prst="rect">
            <a:avLst/>
          </a:prstGeom>
          <a:solidFill>
            <a:srgbClr val="4A90D9"/>
          </a:solidFill>
          <a:ln/>
        </p:spPr>
      </p:sp>
      <p:sp>
        <p:nvSpPr>
          <p:cNvPr id="24" name="Text 22"/>
          <p:cNvSpPr/>
          <p:nvPr/>
        </p:nvSpPr>
        <p:spPr>
          <a:xfrm>
            <a:off x="4846320" y="3136392"/>
            <a:ext cx="502920" cy="502920"/>
          </a:xfrm>
          <a:prstGeom prst="rect">
            <a:avLst/>
          </a:prstGeom>
          <a:noFill/>
          <a:ln/>
        </p:spPr>
        <p:txBody>
          <a:bodyPr wrap="square" lIns="0" tIns="0" rIns="0" bIns="0" rtlCol="0" anchor="ctr"/>
          <a:lstStyle/>
          <a:p>
            <a:pPr marL="0" indent="0" algn="ctr">
              <a:buNone/>
            </a:pPr>
            <a:endParaRPr lang="en-US" sz="2200" dirty="0"/>
          </a:p>
        </p:txBody>
      </p:sp>
      <p:sp>
        <p:nvSpPr>
          <p:cNvPr id="25" name="Text 23"/>
          <p:cNvSpPr/>
          <p:nvPr/>
        </p:nvSpPr>
        <p:spPr>
          <a:xfrm>
            <a:off x="5394960" y="3108960"/>
            <a:ext cx="3291840" cy="365760"/>
          </a:xfrm>
          <a:prstGeom prst="rect">
            <a:avLst/>
          </a:prstGeom>
          <a:noFill/>
          <a:ln/>
        </p:spPr>
        <p:txBody>
          <a:bodyPr wrap="square" lIns="0" tIns="0" rIns="0" bIns="0" rtlCol="0" anchor="ctr"/>
          <a:lstStyle/>
          <a:p>
            <a:pPr marL="0" indent="0" algn="l">
              <a:buNone/>
            </a:pPr>
            <a:r>
              <a:rPr lang="en-US" sz="1400" b="1" dirty="0">
                <a:solidFill>
                  <a:srgbClr val="1A2E5A"/>
                </a:solidFill>
              </a:rPr>
              <a:t>The Good News</a:t>
            </a:r>
            <a:endParaRPr lang="en-US" sz="1400" dirty="0"/>
          </a:p>
        </p:txBody>
      </p:sp>
      <p:sp>
        <p:nvSpPr>
          <p:cNvPr id="26" name="Text 24"/>
          <p:cNvSpPr/>
          <p:nvPr/>
        </p:nvSpPr>
        <p:spPr>
          <a:xfrm>
            <a:off x="4846320" y="3566160"/>
            <a:ext cx="3840480" cy="822960"/>
          </a:xfrm>
          <a:prstGeom prst="rect">
            <a:avLst/>
          </a:prstGeom>
          <a:noFill/>
          <a:ln/>
        </p:spPr>
        <p:txBody>
          <a:bodyPr wrap="square" lIns="0" tIns="0" rIns="0" bIns="0" rtlCol="0" anchor="t"/>
          <a:lstStyle/>
          <a:p>
            <a:pPr marL="0" indent="0" algn="l">
              <a:buNone/>
            </a:pPr>
            <a:r>
              <a:rPr lang="en-US" sz="1100" dirty="0">
                <a:solidFill>
                  <a:srgbClr val="444444"/>
                </a:solidFill>
              </a:rPr>
              <a:t>Because stage fear is rooted in biology, it can be trained and managed. The brain is neuroplastic — with deliberate practice, the fear response weakens and confidence grows. Anyone can improve.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5A"/>
          </a:solidFill>
          <a:ln/>
        </p:spPr>
      </p:sp>
      <p:sp>
        <p:nvSpPr>
          <p:cNvPr id="3" name="Text 1"/>
          <p:cNvSpPr/>
          <p:nvPr/>
        </p:nvSpPr>
        <p:spPr>
          <a:xfrm>
            <a:off x="365760" y="0"/>
            <a:ext cx="6400800" cy="685800"/>
          </a:xfrm>
          <a:prstGeom prst="rect">
            <a:avLst/>
          </a:prstGeom>
          <a:noFill/>
          <a:ln/>
        </p:spPr>
        <p:txBody>
          <a:bodyPr wrap="square" lIns="0" tIns="0" rIns="0" bIns="0" rtlCol="0" anchor="ctr"/>
          <a:lstStyle/>
          <a:p>
            <a:pPr marL="0" indent="0" algn="l">
              <a:buNone/>
            </a:pPr>
            <a:r>
              <a:rPr lang="en-US" sz="2200" b="1" dirty="0">
                <a:solidFill>
                  <a:srgbClr val="FFFFFF"/>
                </a:solidFill>
              </a:rPr>
              <a:t>In-Depth Explanation</a:t>
            </a:r>
            <a:endParaRPr lang="en-US" sz="2200" dirty="0"/>
          </a:p>
        </p:txBody>
      </p:sp>
      <p:sp>
        <p:nvSpPr>
          <p:cNvPr id="4" name="Shape 2"/>
          <p:cNvSpPr/>
          <p:nvPr/>
        </p:nvSpPr>
        <p:spPr>
          <a:xfrm>
            <a:off x="7863840" y="210312"/>
            <a:ext cx="1097280" cy="256032"/>
          </a:xfrm>
          <a:prstGeom prst="roundRect">
            <a:avLst>
              <a:gd name="adj" fmla="val 17857"/>
            </a:avLst>
          </a:prstGeom>
          <a:solidFill>
            <a:srgbClr val="4A90D9"/>
          </a:solidFill>
          <a:ln/>
        </p:spPr>
      </p:sp>
      <p:sp>
        <p:nvSpPr>
          <p:cNvPr id="5" name="Text 3"/>
          <p:cNvSpPr/>
          <p:nvPr/>
        </p:nvSpPr>
        <p:spPr>
          <a:xfrm>
            <a:off x="7863840" y="210312"/>
            <a:ext cx="109728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03</a:t>
            </a:r>
            <a:endParaRPr lang="en-US" sz="900" dirty="0"/>
          </a:p>
        </p:txBody>
      </p:sp>
      <p:sp>
        <p:nvSpPr>
          <p:cNvPr id="6" name="Text 4"/>
          <p:cNvSpPr/>
          <p:nvPr/>
        </p:nvSpPr>
        <p:spPr>
          <a:xfrm>
            <a:off x="365760" y="914400"/>
            <a:ext cx="4846320" cy="457200"/>
          </a:xfrm>
          <a:prstGeom prst="rect">
            <a:avLst/>
          </a:prstGeom>
          <a:noFill/>
          <a:ln/>
        </p:spPr>
        <p:txBody>
          <a:bodyPr wrap="square" lIns="0" tIns="0" rIns="0" bIns="0" rtlCol="0" anchor="ctr"/>
          <a:lstStyle/>
          <a:p>
            <a:pPr marL="0" indent="0" algn="l">
              <a:buNone/>
            </a:pPr>
            <a:r>
              <a:rPr lang="en-US" sz="1800" b="1" dirty="0">
                <a:solidFill>
                  <a:srgbClr val="1A2E5A"/>
                </a:solidFill>
              </a:rPr>
              <a:t>What Happens in Your Body When You Speak</a:t>
            </a:r>
            <a:endParaRPr lang="en-US" sz="1800" dirty="0"/>
          </a:p>
        </p:txBody>
      </p:sp>
      <p:sp>
        <p:nvSpPr>
          <p:cNvPr id="7" name="Text 5"/>
          <p:cNvSpPr/>
          <p:nvPr/>
        </p:nvSpPr>
        <p:spPr>
          <a:xfrm>
            <a:off x="365760" y="1463040"/>
            <a:ext cx="4846320" cy="2286000"/>
          </a:xfrm>
          <a:prstGeom prst="rect">
            <a:avLst/>
          </a:prstGeom>
          <a:noFill/>
          <a:ln/>
        </p:spPr>
        <p:txBody>
          <a:bodyPr wrap="square" lIns="0" tIns="0" rIns="0" bIns="0" rtlCol="0" anchor="t"/>
          <a:lstStyle/>
          <a:p>
            <a:pPr marL="0" indent="0" algn="l">
              <a:buNone/>
            </a:pPr>
            <a:r>
              <a:rPr lang="en-US" sz="1300" b="1" dirty="0">
                <a:solidFill>
                  <a:srgbClr val="2C5F9E"/>
                </a:solidFill>
              </a:rPr>
              <a:t xml:space="preserve">Point 1: </a:t>
            </a:r>
            <a:r>
              <a:rPr lang="en-US" sz="1300" dirty="0">
                <a:solidFill>
                  <a:srgbClr val="222222"/>
                </a:solidFill>
              </a:rPr>
              <a:t>Adrenaline floods your bloodstream within seconds of perceiving a threat (the audience). Your heart rate spikes to pump blood faster — preparing your muscles to run or fight.</a:t>
            </a:r>
            <a:endParaRPr lang="en-US" sz="1300" dirty="0"/>
          </a:p>
          <a:p>
            <a:pPr marL="0" indent="0" algn="l">
              <a:buNone/>
            </a:pPr>
            <a:r>
              <a:rPr lang="en-US" sz="1300" dirty="0">
                <a:solidFill>
                  <a:srgbClr val="000000"/>
                </a:solidFill>
              </a:rPr>
              <a:t xml:space="preserve"> </a:t>
            </a:r>
            <a:endParaRPr lang="en-US" sz="1300" dirty="0"/>
          </a:p>
          <a:p>
            <a:pPr marL="0" indent="0" algn="l">
              <a:buNone/>
            </a:pPr>
            <a:r>
              <a:rPr lang="en-US" sz="1300" b="1" dirty="0">
                <a:solidFill>
                  <a:srgbClr val="2C5F9E"/>
                </a:solidFill>
              </a:rPr>
              <a:t xml:space="preserve">Point 2: </a:t>
            </a:r>
            <a:r>
              <a:rPr lang="en-US" sz="1300" dirty="0">
                <a:solidFill>
                  <a:srgbClr val="222222"/>
                </a:solidFill>
              </a:rPr>
              <a:t>Blood moves away from digestion — causing dry mouth and stomach butterflies. Palms sweat (evolutionary grip response). Vocal cords tense making your voice shake. Breathing becomes shallow and fast.</a:t>
            </a:r>
            <a:endParaRPr lang="en-US" sz="1300" dirty="0"/>
          </a:p>
          <a:p>
            <a:pPr marL="0" indent="0" algn="l">
              <a:buNone/>
            </a:pPr>
            <a:r>
              <a:rPr lang="en-US" sz="1300" dirty="0">
                <a:solidFill>
                  <a:srgbClr val="000000"/>
                </a:solidFill>
              </a:rPr>
              <a:t xml:space="preserve"> </a:t>
            </a:r>
            <a:endParaRPr lang="en-US" sz="1300" dirty="0"/>
          </a:p>
          <a:p>
            <a:pPr marL="0" indent="0" algn="l">
              <a:buNone/>
            </a:pPr>
            <a:r>
              <a:rPr lang="en-US" sz="1300" b="1" dirty="0">
                <a:solidFill>
                  <a:srgbClr val="2C5F9E"/>
                </a:solidFill>
              </a:rPr>
              <a:t xml:space="preserve">Point 3: </a:t>
            </a:r>
            <a:r>
              <a:rPr lang="en-US" sz="1300" dirty="0">
                <a:solidFill>
                  <a:srgbClr val="222222"/>
                </a:solidFill>
              </a:rPr>
              <a:t>The prefrontal cortex (memory + rational thought) partially shuts down — which is exactly why you forget your content mid-sentence. This is not weakness. This is biology.</a:t>
            </a:r>
            <a:endParaRPr lang="en-US" sz="1300" dirty="0"/>
          </a:p>
        </p:txBody>
      </p:sp>
      <p:sp>
        <p:nvSpPr>
          <p:cNvPr id="8" name="Shape 6"/>
          <p:cNvSpPr/>
          <p:nvPr/>
        </p:nvSpPr>
        <p:spPr>
          <a:xfrm>
            <a:off x="5577840" y="822960"/>
            <a:ext cx="3200400" cy="3657600"/>
          </a:xfrm>
          <a:prstGeom prst="rect">
            <a:avLst/>
          </a:prstGeom>
          <a:solidFill>
            <a:srgbClr val="1A2E5A"/>
          </a:solidFill>
          <a:ln/>
          <a:effectLst>
            <a:outerShdw blurRad="101600" dist="38100" dir="8100000" algn="bl" rotWithShape="0">
              <a:srgbClr val="000000">
                <a:alpha val="12000"/>
              </a:srgbClr>
            </a:outerShdw>
          </a:effectLst>
        </p:spPr>
      </p:sp>
      <p:sp>
        <p:nvSpPr>
          <p:cNvPr id="10" name="Shape 8"/>
          <p:cNvSpPr/>
          <p:nvPr/>
        </p:nvSpPr>
        <p:spPr>
          <a:xfrm>
            <a:off x="5577840" y="1463040"/>
            <a:ext cx="3200400" cy="27432"/>
          </a:xfrm>
          <a:prstGeom prst="rect">
            <a:avLst/>
          </a:prstGeom>
          <a:solidFill>
            <a:srgbClr val="4A90D9"/>
          </a:solidFill>
          <a:ln/>
        </p:spPr>
      </p:sp>
      <p:sp>
        <p:nvSpPr>
          <p:cNvPr id="12" name="Shape 10"/>
          <p:cNvSpPr/>
          <p:nvPr/>
        </p:nvSpPr>
        <p:spPr>
          <a:xfrm>
            <a:off x="365760" y="3977640"/>
            <a:ext cx="4846320" cy="777240"/>
          </a:xfrm>
          <a:prstGeom prst="rect">
            <a:avLst/>
          </a:prstGeom>
          <a:solidFill>
            <a:srgbClr val="E8EFF8"/>
          </a:solidFill>
          <a:ln/>
        </p:spPr>
      </p:sp>
      <p:sp>
        <p:nvSpPr>
          <p:cNvPr id="13" name="Shape 11"/>
          <p:cNvSpPr/>
          <p:nvPr/>
        </p:nvSpPr>
        <p:spPr>
          <a:xfrm>
            <a:off x="365760" y="3977640"/>
            <a:ext cx="64008" cy="777240"/>
          </a:xfrm>
          <a:prstGeom prst="rect">
            <a:avLst/>
          </a:prstGeom>
          <a:solidFill>
            <a:srgbClr val="27AE60"/>
          </a:solidFill>
          <a:ln/>
        </p:spPr>
      </p:sp>
      <p:sp>
        <p:nvSpPr>
          <p:cNvPr id="14" name="Text 12"/>
          <p:cNvSpPr/>
          <p:nvPr/>
        </p:nvSpPr>
        <p:spPr>
          <a:xfrm>
            <a:off x="502920" y="3977640"/>
            <a:ext cx="4663440" cy="777240"/>
          </a:xfrm>
          <a:prstGeom prst="rect">
            <a:avLst/>
          </a:prstGeom>
          <a:noFill/>
          <a:ln/>
        </p:spPr>
        <p:txBody>
          <a:bodyPr wrap="square" lIns="0" tIns="0" rIns="0" bIns="0" rtlCol="0" anchor="ctr"/>
          <a:lstStyle/>
          <a:p>
            <a:pPr marL="0" indent="0" algn="l">
              <a:buNone/>
            </a:pPr>
            <a:r>
              <a:rPr lang="en-US" sz="1100" b="1" dirty="0">
                <a:solidFill>
                  <a:srgbClr val="27AE60"/>
                </a:solidFill>
              </a:rPr>
              <a:t xml:space="preserve"> Evaluation Tip: </a:t>
            </a:r>
            <a:r>
              <a:rPr lang="en-US" sz="1100" dirty="0">
                <a:solidFill>
                  <a:srgbClr val="1A2E5A"/>
                </a:solidFill>
              </a:rPr>
              <a:t>This slide tests your Individual Content Contribution score. Know this section deeply — you'll be asked about it.</a:t>
            </a:r>
            <a:endParaRPr lang="en-US" sz="1100" dirty="0"/>
          </a:p>
        </p:txBody>
      </p:sp>
      <p:pic xmlns:p="http://schemas.openxmlformats.org/presentationml/2006/main" xmlns:a="http://schemas.openxmlformats.org/drawingml/2006/main" xmlns:r="http://schemas.openxmlformats.org/officeDocument/2006/relationships">
        <p:nvPicPr>
          <p:cNvPr id="999" name="EmbeddedImage_rId3"/>
          <p:cNvPicPr>
            <a:picLocks noChangeAspect="1"/>
          </p:cNvPicPr>
          <p:nvPr/>
        </p:nvPicPr>
        <p:blipFill>
          <a:blip r:embed="rId3"/>
          <a:stretch>
            <a:fillRect/>
          </a:stretch>
        </p:blipFill>
        <p:spPr>
          <a:xfrm>
            <a:off x="5577840" y="914400"/>
            <a:ext cx="3200400" cy="3200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4A90D9"/>
          </a:solidFill>
          <a:ln/>
        </p:spPr>
      </p:sp>
      <p:sp>
        <p:nvSpPr>
          <p:cNvPr id="3" name="Text 1"/>
          <p:cNvSpPr/>
          <p:nvPr/>
        </p:nvSpPr>
        <p:spPr>
          <a:xfrm>
            <a:off x="365760" y="0"/>
            <a:ext cx="6400800" cy="685800"/>
          </a:xfrm>
          <a:prstGeom prst="rect">
            <a:avLst/>
          </a:prstGeom>
          <a:noFill/>
          <a:ln/>
        </p:spPr>
        <p:txBody>
          <a:bodyPr wrap="square" lIns="0" tIns="0" rIns="0" bIns="0" rtlCol="0" anchor="ctr"/>
          <a:lstStyle/>
          <a:p>
            <a:pPr marL="0" indent="0" algn="l">
              <a:buNone/>
            </a:pPr>
            <a:r>
              <a:rPr lang="en-US" sz="2200" b="1" dirty="0">
                <a:solidFill>
                  <a:srgbClr val="FFFFFF"/>
                </a:solidFill>
              </a:rPr>
              <a:t>Supporting Evidence &amp; Data</a:t>
            </a:r>
            <a:endParaRPr lang="en-US" sz="2200" dirty="0"/>
          </a:p>
        </p:txBody>
      </p:sp>
      <p:sp>
        <p:nvSpPr>
          <p:cNvPr id="4" name="Shape 2"/>
          <p:cNvSpPr/>
          <p:nvPr/>
        </p:nvSpPr>
        <p:spPr>
          <a:xfrm>
            <a:off x="7863840" y="210312"/>
            <a:ext cx="1097280" cy="256032"/>
          </a:xfrm>
          <a:prstGeom prst="roundRect">
            <a:avLst>
              <a:gd name="adj" fmla="val 17857"/>
            </a:avLst>
          </a:prstGeom>
          <a:solidFill>
            <a:srgbClr val="4A90D9"/>
          </a:solidFill>
          <a:ln/>
        </p:spPr>
      </p:sp>
      <p:sp>
        <p:nvSpPr>
          <p:cNvPr id="5" name="Text 3"/>
          <p:cNvSpPr/>
          <p:nvPr/>
        </p:nvSpPr>
        <p:spPr>
          <a:xfrm>
            <a:off x="7863840" y="210312"/>
            <a:ext cx="109728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04</a:t>
            </a:r>
            <a:endParaRPr lang="en-US" sz="900" dirty="0"/>
          </a:p>
        </p:txBody>
      </p:sp>
      <p:sp>
        <p:nvSpPr>
          <p:cNvPr id="6" name="Shape 4"/>
          <p:cNvSpPr/>
          <p:nvPr/>
        </p:nvSpPr>
        <p:spPr>
          <a:xfrm>
            <a:off x="274320" y="868680"/>
            <a:ext cx="2651760" cy="137160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274320" y="868680"/>
            <a:ext cx="2651760" cy="73152"/>
          </a:xfrm>
          <a:prstGeom prst="rect">
            <a:avLst/>
          </a:prstGeom>
          <a:solidFill>
            <a:srgbClr val="1A2E5A"/>
          </a:solidFill>
          <a:ln/>
        </p:spPr>
      </p:sp>
      <p:sp>
        <p:nvSpPr>
          <p:cNvPr id="8" name="Text 6"/>
          <p:cNvSpPr/>
          <p:nvPr/>
        </p:nvSpPr>
        <p:spPr>
          <a:xfrm>
            <a:off x="274320" y="941832"/>
            <a:ext cx="2651760" cy="658368"/>
          </a:xfrm>
          <a:prstGeom prst="rect">
            <a:avLst/>
          </a:prstGeom>
          <a:noFill/>
          <a:ln/>
        </p:spPr>
        <p:txBody>
          <a:bodyPr wrap="square" lIns="0" tIns="0" rIns="0" bIns="0" rtlCol="0" anchor="ctr"/>
          <a:lstStyle/>
          <a:p>
            <a:pPr marL="0" indent="0" algn="ctr">
              <a:buNone/>
            </a:pPr>
            <a:r>
              <a:rPr lang="en-US" sz="3400" b="1" dirty="0">
                <a:solidFill>
                  <a:srgbClr val="1A2E5A"/>
                </a:solidFill>
              </a:rPr>
              <a:t>75%</a:t>
            </a:r>
            <a:endParaRPr lang="en-US" sz="3400" dirty="0"/>
          </a:p>
        </p:txBody>
      </p:sp>
      <p:sp>
        <p:nvSpPr>
          <p:cNvPr id="9" name="Text 7"/>
          <p:cNvSpPr/>
          <p:nvPr/>
        </p:nvSpPr>
        <p:spPr>
          <a:xfrm>
            <a:off x="274320" y="1600200"/>
            <a:ext cx="2651760" cy="320040"/>
          </a:xfrm>
          <a:prstGeom prst="rect">
            <a:avLst/>
          </a:prstGeom>
          <a:noFill/>
          <a:ln/>
        </p:spPr>
        <p:txBody>
          <a:bodyPr wrap="square" lIns="0" tIns="0" rIns="0" bIns="0" rtlCol="0" anchor="ctr"/>
          <a:lstStyle/>
          <a:p>
            <a:pPr marL="0" indent="0" algn="ctr">
              <a:buNone/>
            </a:pPr>
            <a:r>
              <a:rPr lang="en-US" sz="1100" b="1" dirty="0">
                <a:solidFill>
                  <a:srgbClr val="2C5F9E"/>
                </a:solidFill>
              </a:rPr>
              <a:t>Fear Public Speaking</a:t>
            </a:r>
            <a:endParaRPr lang="en-US" sz="1100" dirty="0"/>
          </a:p>
        </p:txBody>
      </p:sp>
      <p:sp>
        <p:nvSpPr>
          <p:cNvPr id="10" name="Text 8"/>
          <p:cNvSpPr/>
          <p:nvPr/>
        </p:nvSpPr>
        <p:spPr>
          <a:xfrm>
            <a:off x="274320" y="1920240"/>
            <a:ext cx="2651760" cy="256032"/>
          </a:xfrm>
          <a:prstGeom prst="rect">
            <a:avLst/>
          </a:prstGeom>
          <a:noFill/>
          <a:ln/>
        </p:spPr>
        <p:txBody>
          <a:bodyPr wrap="square" lIns="0" tIns="0" rIns="0" bIns="0" rtlCol="0" anchor="ctr"/>
          <a:lstStyle/>
          <a:p>
            <a:pPr marL="0" indent="0" algn="ctr">
              <a:buNone/>
            </a:pPr>
            <a:r>
              <a:rPr lang="en-US" sz="900" i="1" dirty="0">
                <a:solidFill>
                  <a:srgbClr val="7A8BA6"/>
                </a:solidFill>
              </a:rPr>
              <a:t>National Institute of Mental Health</a:t>
            </a:r>
            <a:endParaRPr lang="en-US" sz="900" dirty="0"/>
          </a:p>
        </p:txBody>
      </p:sp>
      <p:sp>
        <p:nvSpPr>
          <p:cNvPr id="11" name="Shape 9"/>
          <p:cNvSpPr/>
          <p:nvPr/>
        </p:nvSpPr>
        <p:spPr>
          <a:xfrm>
            <a:off x="3200400" y="868680"/>
            <a:ext cx="2651760" cy="1371600"/>
          </a:xfrm>
          <a:prstGeom prst="rect">
            <a:avLst/>
          </a:prstGeom>
          <a:solidFill>
            <a:srgbClr val="FFFFFF"/>
          </a:solidFill>
          <a:ln/>
          <a:effectLst>
            <a:outerShdw blurRad="101600" dist="38100" dir="8100000" algn="bl" rotWithShape="0">
              <a:srgbClr val="000000">
                <a:alpha val="12000"/>
              </a:srgbClr>
            </a:outerShdw>
          </a:effectLst>
        </p:spPr>
      </p:sp>
      <p:sp>
        <p:nvSpPr>
          <p:cNvPr id="12" name="Shape 10"/>
          <p:cNvSpPr/>
          <p:nvPr/>
        </p:nvSpPr>
        <p:spPr>
          <a:xfrm>
            <a:off x="3200400" y="868680"/>
            <a:ext cx="2651760" cy="73152"/>
          </a:xfrm>
          <a:prstGeom prst="rect">
            <a:avLst/>
          </a:prstGeom>
          <a:solidFill>
            <a:srgbClr val="1A2E5A"/>
          </a:solidFill>
          <a:ln/>
        </p:spPr>
      </p:sp>
      <p:sp>
        <p:nvSpPr>
          <p:cNvPr id="13" name="Text 11"/>
          <p:cNvSpPr/>
          <p:nvPr/>
        </p:nvSpPr>
        <p:spPr>
          <a:xfrm>
            <a:off x="3200400" y="941832"/>
            <a:ext cx="2651760" cy="658368"/>
          </a:xfrm>
          <a:prstGeom prst="rect">
            <a:avLst/>
          </a:prstGeom>
          <a:noFill/>
          <a:ln/>
        </p:spPr>
        <p:txBody>
          <a:bodyPr wrap="square" lIns="0" tIns="0" rIns="0" bIns="0" rtlCol="0" anchor="ctr"/>
          <a:lstStyle/>
          <a:p>
            <a:pPr marL="0" indent="0" algn="ctr">
              <a:buNone/>
            </a:pPr>
            <a:r>
              <a:rPr lang="en-US" sz="3400" b="1" dirty="0">
                <a:solidFill>
                  <a:srgbClr val="1A2E5A"/>
                </a:solidFill>
              </a:rPr>
              <a:t>1 in 4</a:t>
            </a:r>
            <a:endParaRPr lang="en-US" sz="3400" dirty="0"/>
          </a:p>
        </p:txBody>
      </p:sp>
      <p:sp>
        <p:nvSpPr>
          <p:cNvPr id="14" name="Text 12"/>
          <p:cNvSpPr/>
          <p:nvPr/>
        </p:nvSpPr>
        <p:spPr>
          <a:xfrm>
            <a:off x="3200400" y="1600200"/>
            <a:ext cx="2651760" cy="320040"/>
          </a:xfrm>
          <a:prstGeom prst="rect">
            <a:avLst/>
          </a:prstGeom>
          <a:noFill/>
          <a:ln/>
        </p:spPr>
        <p:txBody>
          <a:bodyPr wrap="square" lIns="0" tIns="0" rIns="0" bIns="0" rtlCol="0" anchor="ctr"/>
          <a:lstStyle/>
          <a:p>
            <a:pPr marL="0" indent="0" algn="ctr">
              <a:buNone/>
            </a:pPr>
            <a:r>
              <a:rPr lang="en-US" sz="1100" b="1" dirty="0">
                <a:solidFill>
                  <a:srgbClr val="2C5F9E"/>
                </a:solidFill>
              </a:rPr>
              <a:t>Experience Panic Attacks</a:t>
            </a:r>
            <a:endParaRPr lang="en-US" sz="1100" dirty="0"/>
          </a:p>
        </p:txBody>
      </p:sp>
      <p:sp>
        <p:nvSpPr>
          <p:cNvPr id="15" name="Text 13"/>
          <p:cNvSpPr/>
          <p:nvPr/>
        </p:nvSpPr>
        <p:spPr>
          <a:xfrm>
            <a:off x="3200400" y="1920240"/>
            <a:ext cx="2651760" cy="256032"/>
          </a:xfrm>
          <a:prstGeom prst="rect">
            <a:avLst/>
          </a:prstGeom>
          <a:noFill/>
          <a:ln/>
        </p:spPr>
        <p:txBody>
          <a:bodyPr wrap="square" lIns="0" tIns="0" rIns="0" bIns="0" rtlCol="0" anchor="ctr"/>
          <a:lstStyle/>
          <a:p>
            <a:pPr marL="0" indent="0" algn="ctr">
              <a:buNone/>
            </a:pPr>
            <a:r>
              <a:rPr lang="en-US" sz="900" i="1" dirty="0">
                <a:solidFill>
                  <a:srgbClr val="7A8BA6"/>
                </a:solidFill>
              </a:rPr>
              <a:t>Chapman University Survey, 2023</a:t>
            </a:r>
            <a:endParaRPr lang="en-US" sz="900" dirty="0"/>
          </a:p>
        </p:txBody>
      </p:sp>
      <p:sp>
        <p:nvSpPr>
          <p:cNvPr id="16" name="Shape 14"/>
          <p:cNvSpPr/>
          <p:nvPr/>
        </p:nvSpPr>
        <p:spPr>
          <a:xfrm>
            <a:off x="6126480" y="868680"/>
            <a:ext cx="2651760" cy="1371600"/>
          </a:xfrm>
          <a:prstGeom prst="rect">
            <a:avLst/>
          </a:prstGeom>
          <a:solidFill>
            <a:srgbClr val="FFFFFF"/>
          </a:solidFill>
          <a:ln/>
          <a:effectLst>
            <a:outerShdw blurRad="101600" dist="38100" dir="8100000" algn="bl" rotWithShape="0">
              <a:srgbClr val="000000">
                <a:alpha val="12000"/>
              </a:srgbClr>
            </a:outerShdw>
          </a:effectLst>
        </p:spPr>
      </p:sp>
      <p:sp>
        <p:nvSpPr>
          <p:cNvPr id="17" name="Shape 15"/>
          <p:cNvSpPr/>
          <p:nvPr/>
        </p:nvSpPr>
        <p:spPr>
          <a:xfrm>
            <a:off x="6126480" y="868680"/>
            <a:ext cx="2651760" cy="73152"/>
          </a:xfrm>
          <a:prstGeom prst="rect">
            <a:avLst/>
          </a:prstGeom>
          <a:solidFill>
            <a:srgbClr val="1A2E5A"/>
          </a:solidFill>
          <a:ln/>
        </p:spPr>
      </p:sp>
      <p:sp>
        <p:nvSpPr>
          <p:cNvPr id="18" name="Text 16"/>
          <p:cNvSpPr/>
          <p:nvPr/>
        </p:nvSpPr>
        <p:spPr>
          <a:xfrm>
            <a:off x="6126480" y="941832"/>
            <a:ext cx="2651760" cy="658368"/>
          </a:xfrm>
          <a:prstGeom prst="rect">
            <a:avLst/>
          </a:prstGeom>
          <a:noFill/>
          <a:ln/>
        </p:spPr>
        <p:txBody>
          <a:bodyPr wrap="square" lIns="0" tIns="0" rIns="0" bIns="0" rtlCol="0" anchor="ctr"/>
          <a:lstStyle/>
          <a:p>
            <a:pPr marL="0" indent="0" algn="ctr">
              <a:buNone/>
            </a:pPr>
            <a:r>
              <a:rPr lang="en-US" sz="3400" b="1" dirty="0">
                <a:solidFill>
                  <a:srgbClr val="1A2E5A"/>
                </a:solidFill>
              </a:rPr>
              <a:t>#1</a:t>
            </a:r>
            <a:endParaRPr lang="en-US" sz="3400" dirty="0"/>
          </a:p>
        </p:txBody>
      </p:sp>
      <p:sp>
        <p:nvSpPr>
          <p:cNvPr id="19" name="Text 17"/>
          <p:cNvSpPr/>
          <p:nvPr/>
        </p:nvSpPr>
        <p:spPr>
          <a:xfrm>
            <a:off x="6126480" y="1600200"/>
            <a:ext cx="2651760" cy="320040"/>
          </a:xfrm>
          <a:prstGeom prst="rect">
            <a:avLst/>
          </a:prstGeom>
          <a:noFill/>
          <a:ln/>
        </p:spPr>
        <p:txBody>
          <a:bodyPr wrap="square" lIns="0" tIns="0" rIns="0" bIns="0" rtlCol="0" anchor="ctr"/>
          <a:lstStyle/>
          <a:p>
            <a:pPr marL="0" indent="0" algn="ctr">
              <a:buNone/>
            </a:pPr>
            <a:r>
              <a:rPr lang="en-US" sz="1100" b="1" dirty="0">
                <a:solidFill>
                  <a:srgbClr val="2C5F9E"/>
                </a:solidFill>
              </a:rPr>
              <a:t>Most Common Phobia</a:t>
            </a:r>
            <a:endParaRPr lang="en-US" sz="1100" dirty="0"/>
          </a:p>
        </p:txBody>
      </p:sp>
      <p:sp>
        <p:nvSpPr>
          <p:cNvPr id="20" name="Text 18"/>
          <p:cNvSpPr/>
          <p:nvPr/>
        </p:nvSpPr>
        <p:spPr>
          <a:xfrm>
            <a:off x="6126480" y="1920240"/>
            <a:ext cx="2651760" cy="256032"/>
          </a:xfrm>
          <a:prstGeom prst="rect">
            <a:avLst/>
          </a:prstGeom>
          <a:noFill/>
          <a:ln/>
        </p:spPr>
        <p:txBody>
          <a:bodyPr wrap="square" lIns="0" tIns="0" rIns="0" bIns="0" rtlCol="0" anchor="ctr"/>
          <a:lstStyle/>
          <a:p>
            <a:pPr marL="0" indent="0" algn="ctr">
              <a:buNone/>
            </a:pPr>
            <a:r>
              <a:rPr lang="en-US" sz="900" i="1" dirty="0">
                <a:solidFill>
                  <a:srgbClr val="7A8BA6"/>
                </a:solidFill>
              </a:rPr>
              <a:t>Glossophobia ranks above death (Jerry Seinfeld)</a:t>
            </a:r>
            <a:endParaRPr lang="en-US" sz="900" dirty="0"/>
          </a:p>
        </p:txBody>
      </p:sp>
      <p:sp>
        <p:nvSpPr>
          <p:cNvPr id="21" name="Shape 19"/>
          <p:cNvSpPr/>
          <p:nvPr/>
        </p:nvSpPr>
        <p:spPr>
          <a:xfrm>
            <a:off x="274320" y="2377440"/>
            <a:ext cx="8595360" cy="2377440"/>
          </a:xfrm>
          <a:prstGeom prst="rect">
            <a:avLst/>
          </a:prstGeom>
          <a:solidFill>
            <a:srgbClr val="FFFFFF"/>
          </a:solidFill>
          <a:ln/>
          <a:effectLst>
            <a:outerShdw blurRad="101600" dist="38100" dir="8100000" algn="bl" rotWithShape="0">
              <a:srgbClr val="000000">
                <a:alpha val="12000"/>
              </a:srgbClr>
            </a:outerShdw>
          </a:effectLst>
        </p:spPr>
      </p:sp>
      <p:sp>
        <p:nvSpPr>
          <p:cNvPr id="22" name="Text 20"/>
          <p:cNvSpPr/>
          <p:nvPr/>
        </p:nvSpPr>
        <p:spPr>
          <a:xfrm>
            <a:off x="274320" y="2377440"/>
            <a:ext cx="8595360" cy="2377440"/>
          </a:xfrm>
          <a:prstGeom prst="rect">
            <a:avLst/>
          </a:prstGeom>
          <a:noFill/>
          <a:ln/>
        </p:spPr>
        <p:txBody>
          <a:bodyPr wrap="square" lIns="0" tIns="0" rIns="0" bIns="0" rtlCol="0" anchor="ctr"/>
          <a:lstStyle/>
          <a:p>
            <a:pPr marL="0" indent="0" algn="ctr">
              <a:buNone/>
            </a:pPr>
            <a:r>
              <a:rPr lang="en-US" sz="1600" b="1" dirty="0">
                <a:solidFill>
                  <a:srgbClr val="1A2E5A"/>
                </a:solidFill>
              </a:rPr>
              <a:t>Top Techniques Used by Confident Speakers
</a:t>
            </a:r>
            <a:endParaRPr lang="en-US" sz="1600" dirty="0"/>
          </a:p>
          <a:p>
            <a:pPr marL="0" indent="0" algn="ctr">
              <a:buNone/>
            </a:pPr>
            <a:r>
              <a:rPr lang="en-US" sz="1100" i="1" dirty="0">
                <a:solidFill>
                  <a:srgbClr val="7A8BA6"/>
                </a:solidFill>
              </a:rPr>
              <a:t>(Visualization) Bar chart: Preparation 89% | Breathing Exercises 76% | Visualization 68% | Joining Speaking Clubs 54% | Seeking Feedback 49%
</a:t>
            </a:r>
            <a:endParaRPr lang="en-US" sz="1600" dirty="0"/>
          </a:p>
          <a:p>
            <a:pPr marL="0" indent="0" algn="ctr">
              <a:buNone/>
            </a:pPr>
            <a:r>
              <a:rPr lang="en-US" sz="1000" dirty="0">
                <a:solidFill>
                  <a:srgbClr val="7A8BA6"/>
                </a:solidFill>
              </a:rPr>
              <a:t>Source: Toastmasters International (2022) | Insert a bar chart here via PowerPoint Insert → Chart showing these 5 techniques and their % usage among confident speakers</a:t>
            </a:r>
            <a:endParaRPr lang="en-US" sz="1600" dirty="0"/>
          </a:p>
        </p:txBody>
      </p:sp>
      <p:pic xmlns:p="http://schemas.openxmlformats.org/presentationml/2006/main" xmlns:a="http://schemas.openxmlformats.org/drawingml/2006/main" xmlns:r="http://schemas.openxmlformats.org/officeDocument/2006/relationships">
        <p:nvPicPr>
          <p:cNvPr id="999" name="EmbeddedImage_rId3"/>
          <p:cNvPicPr>
            <a:picLocks noChangeAspect="1"/>
          </p:cNvPicPr>
          <p:nvPr/>
        </p:nvPicPr>
        <p:blipFill>
          <a:blip r:embed="rId3"/>
          <a:stretch>
            <a:fillRect/>
          </a:stretch>
        </p:blipFill>
        <p:spPr>
          <a:xfrm>
            <a:off x="274320" y="2300000"/>
            <a:ext cx="8595360" cy="220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5A"/>
        </a:solidFill>
        <a:effectLst/>
      </p:bgPr>
    </p:bg>
    <p:spTree>
      <p:nvGrpSpPr>
        <p:cNvPr id="1" name=""/>
        <p:cNvGrpSpPr/>
        <p:nvPr/>
      </p:nvGrpSpPr>
      <p:grpSpPr>
        <a:xfrm>
          <a:off x="0" y="0"/>
          <a:ext cx="0" cy="0"/>
          <a:chOff x="0" y="0"/>
          <a:chExt cx="0" cy="0"/>
        </a:xfrm>
      </p:grpSpPr>
      <p:sp>
        <p:nvSpPr>
          <p:cNvPr id="2" name="Shape 0"/>
          <p:cNvSpPr/>
          <p:nvPr/>
        </p:nvSpPr>
        <p:spPr>
          <a:xfrm>
            <a:off x="6858000" y="-457200"/>
            <a:ext cx="3657600" cy="3657600"/>
          </a:xfrm>
          <a:prstGeom prst="ellipse">
            <a:avLst/>
          </a:prstGeom>
          <a:solidFill>
            <a:srgbClr val="2C5F9E">
              <a:alpha val="40000"/>
            </a:srgbClr>
          </a:solidFill>
          <a:ln/>
        </p:spPr>
      </p:sp>
      <p:sp>
        <p:nvSpPr>
          <p:cNvPr id="3" name="Shape 1"/>
          <p:cNvSpPr/>
          <p:nvPr/>
        </p:nvSpPr>
        <p:spPr>
          <a:xfrm>
            <a:off x="7498080" y="2286000"/>
            <a:ext cx="2743200" cy="2743200"/>
          </a:xfrm>
          <a:prstGeom prst="ellipse">
            <a:avLst/>
          </a:prstGeom>
          <a:solidFill>
            <a:srgbClr val="4A90D9">
              <a:alpha val="30000"/>
            </a:srgbClr>
          </a:solidFill>
          <a:ln/>
        </p:spPr>
      </p:sp>
      <p:sp>
        <p:nvSpPr>
          <p:cNvPr id="4" name="Shape 2"/>
          <p:cNvSpPr/>
          <p:nvPr/>
        </p:nvSpPr>
        <p:spPr>
          <a:xfrm>
            <a:off x="365760" y="365760"/>
            <a:ext cx="1389888" cy="256032"/>
          </a:xfrm>
          <a:prstGeom prst="roundRect">
            <a:avLst>
              <a:gd name="adj" fmla="val 17857"/>
            </a:avLst>
          </a:prstGeom>
          <a:solidFill>
            <a:srgbClr val="4A90D9"/>
          </a:solidFill>
          <a:ln/>
        </p:spPr>
      </p:sp>
      <p:sp>
        <p:nvSpPr>
          <p:cNvPr id="5" name="Text 3"/>
          <p:cNvSpPr/>
          <p:nvPr/>
        </p:nvSpPr>
        <p:spPr>
          <a:xfrm>
            <a:off x="365760" y="365760"/>
            <a:ext cx="1389888" cy="256032"/>
          </a:xfrm>
          <a:prstGeom prst="rect">
            <a:avLst/>
          </a:prstGeom>
          <a:noFill/>
          <a:ln/>
        </p:spPr>
        <p:txBody>
          <a:bodyPr wrap="square" lIns="0" tIns="0" rIns="0" bIns="0" rtlCol="0" anchor="ctr"/>
          <a:lstStyle/>
          <a:p>
            <a:pPr marL="0" indent="0" algn="ctr">
              <a:buNone/>
            </a:pPr>
            <a:r>
              <a:rPr lang="en-US" sz="900" b="1" dirty="0">
                <a:solidFill>
                  <a:srgbClr val="FFFFFF"/>
                </a:solidFill>
              </a:rPr>
              <a:t>GROUP ACTIVITY</a:t>
            </a:r>
            <a:endParaRPr lang="en-US" sz="900" dirty="0"/>
          </a:p>
        </p:txBody>
      </p:sp>
      <p:sp>
        <p:nvSpPr>
          <p:cNvPr id="6" name="Text 4"/>
          <p:cNvSpPr/>
          <p:nvPr/>
        </p:nvSpPr>
        <p:spPr>
          <a:xfrm>
            <a:off x="365760" y="749808"/>
            <a:ext cx="6400800" cy="822960"/>
          </a:xfrm>
          <a:prstGeom prst="rect">
            <a:avLst/>
          </a:prstGeom>
          <a:noFill/>
          <a:ln/>
        </p:spPr>
        <p:txBody>
          <a:bodyPr wrap="square" lIns="0" tIns="0" rIns="0" bIns="0" rtlCol="0" anchor="ctr"/>
          <a:lstStyle/>
          <a:p>
            <a:pPr marL="0" indent="0" algn="l">
              <a:buNone/>
            </a:pPr>
            <a:r>
              <a:rPr lang="en-US" sz="3600" b="1" dirty="0">
                <a:solidFill>
                  <a:srgbClr val="FFFFFF"/>
                </a:solidFill>
              </a:rPr>
              <a:t>Let's Discuss!</a:t>
            </a:r>
            <a:endParaRPr lang="en-US" sz="3600" dirty="0"/>
          </a:p>
        </p:txBody>
      </p:sp>
      <p:sp>
        <p:nvSpPr>
          <p:cNvPr id="7" name="Shape 5"/>
          <p:cNvSpPr/>
          <p:nvPr/>
        </p:nvSpPr>
        <p:spPr>
          <a:xfrm>
            <a:off x="365760" y="1691640"/>
            <a:ext cx="6217920" cy="45720"/>
          </a:xfrm>
          <a:prstGeom prst="rect">
            <a:avLst/>
          </a:prstGeom>
          <a:solidFill>
            <a:srgbClr val="F5A623"/>
          </a:solidFill>
          <a:ln/>
        </p:spPr>
      </p:sp>
      <p:sp>
        <p:nvSpPr>
          <p:cNvPr id="8" name="Text 6"/>
          <p:cNvSpPr/>
          <p:nvPr/>
        </p:nvSpPr>
        <p:spPr>
          <a:xfrm>
            <a:off x="365760" y="1874520"/>
            <a:ext cx="6400800" cy="457200"/>
          </a:xfrm>
          <a:prstGeom prst="rect">
            <a:avLst/>
          </a:prstGeom>
          <a:noFill/>
          <a:ln/>
        </p:spPr>
        <p:txBody>
          <a:bodyPr wrap="square" lIns="0" tIns="0" rIns="0" bIns="0" rtlCol="0" anchor="ctr"/>
          <a:lstStyle/>
          <a:p>
            <a:pPr marL="0" indent="0" algn="l">
              <a:buNone/>
            </a:pPr>
            <a:r>
              <a:rPr lang="en-US" sz="1600" b="1" dirty="0">
                <a:solidFill>
                  <a:srgbClr val="F5A623"/>
                </a:solidFill>
              </a:rPr>
              <a:t>Discussion Question / Activity</a:t>
            </a:r>
            <a:endParaRPr lang="en-US" sz="1600" dirty="0"/>
          </a:p>
        </p:txBody>
      </p:sp>
      <p:sp>
        <p:nvSpPr>
          <p:cNvPr id="9" name="Text 7"/>
          <p:cNvSpPr/>
          <p:nvPr/>
        </p:nvSpPr>
        <p:spPr>
          <a:xfrm>
            <a:off x="365760" y="2423160"/>
            <a:ext cx="6400800" cy="1463040"/>
          </a:xfrm>
          <a:prstGeom prst="rect">
            <a:avLst/>
          </a:prstGeom>
          <a:noFill/>
          <a:ln/>
        </p:spPr>
        <p:txBody>
          <a:bodyPr wrap="square" lIns="0" tIns="0" rIns="0" bIns="0" rtlCol="0" anchor="t"/>
          <a:lstStyle/>
          <a:p>
            <a:pPr marL="0" indent="0" algn="l">
              <a:buNone/>
            </a:pPr>
            <a:r>
              <a:rPr lang="en-US" sz="1400" i="1" dirty="0">
                <a:solidFill>
                  <a:srgbClr val="DDEEFF"/>
                </a:solidFill>
              </a:rPr>
              <a:t>“Think of a time you had to speak in front of others — a classroom presentation, a job interview, or even a group discussion.</a:t>
            </a:r>
            <a:endParaRPr lang="en-US" sz="1400" dirty="0"/>
          </a:p>
          <a:p>
            <a:pPr marL="0" indent="0" algn="l">
              <a:buNone/>
            </a:pPr>
            <a:endParaRPr lang="en-US" sz="1400" dirty="0"/>
          </a:p>
          <a:p>
            <a:pPr marL="0" indent="0" algn="l">
              <a:buNone/>
            </a:pPr>
            <a:r>
              <a:rPr lang="en-US" sz="1400" i="1" dirty="0">
                <a:solidFill>
                  <a:srgbClr val="DDEEFF"/>
                </a:solidFill>
              </a:rPr>
              <a:t>What did you feel in that moment, and what did you do to get through it?”</a:t>
            </a:r>
            <a:endParaRPr lang="en-US" sz="1400" dirty="0"/>
          </a:p>
        </p:txBody>
      </p:sp>
      <p:sp>
        <p:nvSpPr>
          <p:cNvPr id="10" name="Text 8"/>
          <p:cNvSpPr/>
          <p:nvPr/>
        </p:nvSpPr>
        <p:spPr>
          <a:xfrm>
            <a:off x="365760" y="4069080"/>
            <a:ext cx="6400800" cy="411480"/>
          </a:xfrm>
          <a:prstGeom prst="rect">
            <a:avLst/>
          </a:prstGeom>
          <a:noFill/>
          <a:ln/>
        </p:spPr>
        <p:txBody>
          <a:bodyPr wrap="square" lIns="0" tIns="0" rIns="0" bIns="0" rtlCol="0" anchor="ctr"/>
          <a:lstStyle/>
          <a:p>
            <a:pPr marL="0" indent="0" algn="l">
              <a:buNone/>
            </a:pPr>
            <a:r>
              <a:rPr lang="en-US" sz="1100" dirty="0">
                <a:solidFill>
                  <a:srgbClr val="F5A623"/>
                </a:solidFill>
              </a:rPr>
              <a:t xml:space="preserve">  Give the audience 2 minutes to reflect individually, then share with the group. Each group member will also briefly share their own personal technique for managing nerves.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5A"/>
          </a:solidFill>
          <a:ln/>
        </p:spPr>
      </p:sp>
      <p:sp>
        <p:nvSpPr>
          <p:cNvPr id="3" name="Text 1"/>
          <p:cNvSpPr/>
          <p:nvPr/>
        </p:nvSpPr>
        <p:spPr>
          <a:xfrm>
            <a:off x="365760" y="0"/>
            <a:ext cx="6400800" cy="685800"/>
          </a:xfrm>
          <a:prstGeom prst="rect">
            <a:avLst/>
          </a:prstGeom>
          <a:noFill/>
          <a:ln/>
        </p:spPr>
        <p:txBody>
          <a:bodyPr wrap="square" lIns="0" tIns="0" rIns="0" bIns="0" rtlCol="0" anchor="ctr"/>
          <a:lstStyle/>
          <a:p>
            <a:pPr marL="0" indent="0" algn="l">
              <a:buNone/>
            </a:pPr>
            <a:r>
              <a:rPr lang="en-US" sz="2200" b="1" dirty="0">
                <a:solidFill>
                  <a:srgbClr val="FFFFFF"/>
                </a:solidFill>
              </a:rPr>
              <a:t>Key Takeaways</a:t>
            </a:r>
            <a:endParaRPr lang="en-US" sz="2200" dirty="0"/>
          </a:p>
        </p:txBody>
      </p:sp>
      <p:sp>
        <p:nvSpPr>
          <p:cNvPr id="4" name="Shape 2"/>
          <p:cNvSpPr/>
          <p:nvPr/>
        </p:nvSpPr>
        <p:spPr>
          <a:xfrm>
            <a:off x="7863840" y="210312"/>
            <a:ext cx="877824" cy="256032"/>
          </a:xfrm>
          <a:prstGeom prst="roundRect">
            <a:avLst>
              <a:gd name="adj" fmla="val 17857"/>
            </a:avLst>
          </a:prstGeom>
          <a:solidFill>
            <a:srgbClr val="4A90D9"/>
          </a:solidFill>
          <a:ln/>
        </p:spPr>
      </p:sp>
      <p:sp>
        <p:nvSpPr>
          <p:cNvPr id="5" name="Text 3"/>
          <p:cNvSpPr/>
          <p:nvPr/>
        </p:nvSpPr>
        <p:spPr>
          <a:xfrm>
            <a:off x="7863840" y="210312"/>
            <a:ext cx="877824" cy="256032"/>
          </a:xfrm>
          <a:prstGeom prst="rect">
            <a:avLst/>
          </a:prstGeom>
          <a:noFill/>
          <a:ln/>
        </p:spPr>
        <p:txBody>
          <a:bodyPr wrap="square" lIns="0" tIns="0" rIns="0" bIns="0" rtlCol="0" anchor="ctr"/>
          <a:lstStyle/>
          <a:p>
            <a:pPr marL="0" indent="0" algn="ctr">
              <a:buNone/>
            </a:pPr>
            <a:r>
              <a:rPr lang="en-US" sz="900" b="1" dirty="0">
                <a:solidFill>
                  <a:srgbClr val="FFFFFF"/>
                </a:solidFill>
              </a:rPr>
              <a:t>SUMMARY</a:t>
            </a:r>
            <a:endParaRPr lang="en-US" sz="900" dirty="0"/>
          </a:p>
        </p:txBody>
      </p:sp>
      <p:sp>
        <p:nvSpPr>
          <p:cNvPr id="6" name="Text 4"/>
          <p:cNvSpPr/>
          <p:nvPr/>
        </p:nvSpPr>
        <p:spPr>
          <a:xfrm>
            <a:off x="365760" y="804672"/>
            <a:ext cx="8229600" cy="292608"/>
          </a:xfrm>
          <a:prstGeom prst="rect">
            <a:avLst/>
          </a:prstGeom>
          <a:noFill/>
          <a:ln/>
        </p:spPr>
        <p:txBody>
          <a:bodyPr wrap="square" lIns="0" tIns="0" rIns="0" bIns="0" rtlCol="0" anchor="ctr"/>
          <a:lstStyle/>
          <a:p>
            <a:pPr marL="0" indent="0" algn="l">
              <a:buNone/>
            </a:pPr>
            <a:r>
              <a:rPr lang="en-US" sz="1200" i="1" dirty="0">
                <a:solidFill>
                  <a:srgbClr val="7A8BA6"/>
                </a:solidFill>
              </a:rPr>
              <a:t>What to remember from today's presentation</a:t>
            </a:r>
            <a:endParaRPr lang="en-US" sz="1200" dirty="0"/>
          </a:p>
        </p:txBody>
      </p:sp>
      <p:sp>
        <p:nvSpPr>
          <p:cNvPr id="7" name="Shape 5"/>
          <p:cNvSpPr/>
          <p:nvPr/>
        </p:nvSpPr>
        <p:spPr>
          <a:xfrm>
            <a:off x="365760" y="1234440"/>
            <a:ext cx="8412480" cy="713232"/>
          </a:xfrm>
          <a:prstGeom prst="rect">
            <a:avLst/>
          </a:prstGeom>
          <a:solidFill>
            <a:srgbClr val="F4F7FC"/>
          </a:solidFill>
          <a:ln/>
          <a:effectLst>
            <a:outerShdw blurRad="101600" dist="38100" dir="8100000" algn="bl" rotWithShape="0">
              <a:srgbClr val="000000">
                <a:alpha val="12000"/>
              </a:srgbClr>
            </a:outerShdw>
          </a:effectLst>
        </p:spPr>
      </p:sp>
      <p:sp>
        <p:nvSpPr>
          <p:cNvPr id="8" name="Shape 6"/>
          <p:cNvSpPr/>
          <p:nvPr/>
        </p:nvSpPr>
        <p:spPr>
          <a:xfrm>
            <a:off x="365760" y="1234440"/>
            <a:ext cx="73152" cy="713232"/>
          </a:xfrm>
          <a:prstGeom prst="rect">
            <a:avLst/>
          </a:prstGeom>
          <a:solidFill>
            <a:srgbClr val="1A2E5A"/>
          </a:solidFill>
          <a:ln/>
        </p:spPr>
      </p:sp>
      <p:sp>
        <p:nvSpPr>
          <p:cNvPr id="9" name="Shape 7"/>
          <p:cNvSpPr/>
          <p:nvPr/>
        </p:nvSpPr>
        <p:spPr>
          <a:xfrm>
            <a:off x="548640" y="1316736"/>
            <a:ext cx="548640" cy="548640"/>
          </a:xfrm>
          <a:prstGeom prst="ellipse">
            <a:avLst/>
          </a:prstGeom>
          <a:solidFill>
            <a:srgbClr val="1A2E5A"/>
          </a:solidFill>
          <a:ln/>
        </p:spPr>
      </p:sp>
      <p:sp>
        <p:nvSpPr>
          <p:cNvPr id="10" name="Text 8"/>
          <p:cNvSpPr/>
          <p:nvPr/>
        </p:nvSpPr>
        <p:spPr>
          <a:xfrm>
            <a:off x="548640" y="1316736"/>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1" name="Text 9"/>
          <p:cNvSpPr/>
          <p:nvPr/>
        </p:nvSpPr>
        <p:spPr>
          <a:xfrm>
            <a:off x="1234440" y="1234440"/>
            <a:ext cx="7406640" cy="713232"/>
          </a:xfrm>
          <a:prstGeom prst="rect">
            <a:avLst/>
          </a:prstGeom>
          <a:noFill/>
          <a:ln/>
        </p:spPr>
        <p:txBody>
          <a:bodyPr wrap="square" lIns="0" tIns="0" rIns="0" bIns="0" rtlCol="0" anchor="ctr"/>
          <a:lstStyle/>
          <a:p>
            <a:pPr marL="0" indent="0" algn="l">
              <a:buNone/>
            </a:pPr>
            <a:r>
              <a:rPr lang="en-US" sz="1300" dirty="0">
                <a:solidFill>
                  <a:srgbClr val="222222"/>
                </a:solidFill>
              </a:rPr>
              <a:t>Stage fear is normal and universal — 75% of people experience it. You are not alone, and it does not mean you are not capable.</a:t>
            </a:r>
            <a:endParaRPr lang="en-US" sz="1300" dirty="0"/>
          </a:p>
        </p:txBody>
      </p:sp>
      <p:sp>
        <p:nvSpPr>
          <p:cNvPr id="12" name="Shape 10"/>
          <p:cNvSpPr/>
          <p:nvPr/>
        </p:nvSpPr>
        <p:spPr>
          <a:xfrm>
            <a:off x="365760" y="2103120"/>
            <a:ext cx="8412480" cy="713232"/>
          </a:xfrm>
          <a:prstGeom prst="rect">
            <a:avLst/>
          </a:prstGeom>
          <a:solidFill>
            <a:srgbClr val="F4F7FC"/>
          </a:solidFill>
          <a:ln/>
          <a:effectLst>
            <a:outerShdw blurRad="101600" dist="38100" dir="8100000" algn="bl" rotWithShape="0">
              <a:srgbClr val="000000">
                <a:alpha val="12000"/>
              </a:srgbClr>
            </a:outerShdw>
          </a:effectLst>
        </p:spPr>
      </p:sp>
      <p:sp>
        <p:nvSpPr>
          <p:cNvPr id="13" name="Shape 11"/>
          <p:cNvSpPr/>
          <p:nvPr/>
        </p:nvSpPr>
        <p:spPr>
          <a:xfrm>
            <a:off x="365760" y="2103120"/>
            <a:ext cx="73152" cy="713232"/>
          </a:xfrm>
          <a:prstGeom prst="rect">
            <a:avLst/>
          </a:prstGeom>
          <a:solidFill>
            <a:srgbClr val="2C5F9E"/>
          </a:solidFill>
          <a:ln/>
        </p:spPr>
      </p:sp>
      <p:sp>
        <p:nvSpPr>
          <p:cNvPr id="14" name="Shape 12"/>
          <p:cNvSpPr/>
          <p:nvPr/>
        </p:nvSpPr>
        <p:spPr>
          <a:xfrm>
            <a:off x="548640" y="2185416"/>
            <a:ext cx="548640" cy="548640"/>
          </a:xfrm>
          <a:prstGeom prst="ellipse">
            <a:avLst/>
          </a:prstGeom>
          <a:solidFill>
            <a:srgbClr val="2C5F9E"/>
          </a:solidFill>
          <a:ln/>
        </p:spPr>
      </p:sp>
      <p:sp>
        <p:nvSpPr>
          <p:cNvPr id="15" name="Text 13"/>
          <p:cNvSpPr/>
          <p:nvPr/>
        </p:nvSpPr>
        <p:spPr>
          <a:xfrm>
            <a:off x="548640" y="2185416"/>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6" name="Text 14"/>
          <p:cNvSpPr/>
          <p:nvPr/>
        </p:nvSpPr>
        <p:spPr>
          <a:xfrm>
            <a:off x="1234440" y="2103120"/>
            <a:ext cx="7406640" cy="713232"/>
          </a:xfrm>
          <a:prstGeom prst="rect">
            <a:avLst/>
          </a:prstGeom>
          <a:noFill/>
          <a:ln/>
        </p:spPr>
        <p:txBody>
          <a:bodyPr wrap="square" lIns="0" tIns="0" rIns="0" bIns="0" rtlCol="0" anchor="ctr"/>
          <a:lstStyle/>
          <a:p>
            <a:pPr marL="0" indent="0" algn="l">
              <a:buNone/>
            </a:pPr>
            <a:r>
              <a:rPr lang="en-US" sz="1300" dirty="0">
                <a:solidFill>
                  <a:srgbClr val="222222"/>
                </a:solidFill>
              </a:rPr>
              <a:t>Preparation is your greatest weapon. The more you rehearse — alone, in front of a mirror, with friends — the more confident and natural you will sound on the actual day.</a:t>
            </a:r>
            <a:endParaRPr lang="en-US" sz="1300" dirty="0"/>
          </a:p>
        </p:txBody>
      </p:sp>
      <p:sp>
        <p:nvSpPr>
          <p:cNvPr id="17" name="Shape 15"/>
          <p:cNvSpPr/>
          <p:nvPr/>
        </p:nvSpPr>
        <p:spPr>
          <a:xfrm>
            <a:off x="365760" y="2971800"/>
            <a:ext cx="8412480" cy="713232"/>
          </a:xfrm>
          <a:prstGeom prst="rect">
            <a:avLst/>
          </a:prstGeom>
          <a:solidFill>
            <a:srgbClr val="F4F7FC"/>
          </a:solidFill>
          <a:ln/>
          <a:effectLst>
            <a:outerShdw blurRad="101600" dist="38100" dir="8100000" algn="bl" rotWithShape="0">
              <a:srgbClr val="000000">
                <a:alpha val="12000"/>
              </a:srgbClr>
            </a:outerShdw>
          </a:effectLst>
        </p:spPr>
      </p:sp>
      <p:sp>
        <p:nvSpPr>
          <p:cNvPr id="18" name="Shape 16"/>
          <p:cNvSpPr/>
          <p:nvPr/>
        </p:nvSpPr>
        <p:spPr>
          <a:xfrm>
            <a:off x="365760" y="2971800"/>
            <a:ext cx="73152" cy="713232"/>
          </a:xfrm>
          <a:prstGeom prst="rect">
            <a:avLst/>
          </a:prstGeom>
          <a:solidFill>
            <a:srgbClr val="4A90D9"/>
          </a:solidFill>
          <a:ln/>
        </p:spPr>
      </p:sp>
      <p:sp>
        <p:nvSpPr>
          <p:cNvPr id="19" name="Shape 17"/>
          <p:cNvSpPr/>
          <p:nvPr/>
        </p:nvSpPr>
        <p:spPr>
          <a:xfrm>
            <a:off x="548640" y="3054096"/>
            <a:ext cx="548640" cy="548640"/>
          </a:xfrm>
          <a:prstGeom prst="ellipse">
            <a:avLst/>
          </a:prstGeom>
          <a:solidFill>
            <a:srgbClr val="4A90D9"/>
          </a:solidFill>
          <a:ln/>
        </p:spPr>
      </p:sp>
      <p:sp>
        <p:nvSpPr>
          <p:cNvPr id="20" name="Text 18"/>
          <p:cNvSpPr/>
          <p:nvPr/>
        </p:nvSpPr>
        <p:spPr>
          <a:xfrm>
            <a:off x="548640" y="3054096"/>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1" name="Text 19"/>
          <p:cNvSpPr/>
          <p:nvPr/>
        </p:nvSpPr>
        <p:spPr>
          <a:xfrm>
            <a:off x="1234440" y="2971800"/>
            <a:ext cx="7406640" cy="713232"/>
          </a:xfrm>
          <a:prstGeom prst="rect">
            <a:avLst/>
          </a:prstGeom>
          <a:noFill/>
          <a:ln/>
        </p:spPr>
        <p:txBody>
          <a:bodyPr wrap="square" lIns="0" tIns="0" rIns="0" bIns="0" rtlCol="0" anchor="ctr"/>
          <a:lstStyle/>
          <a:p>
            <a:pPr marL="0" indent="0" algn="l">
              <a:buNone/>
            </a:pPr>
            <a:r>
              <a:rPr lang="en-US" sz="1300" dirty="0">
                <a:solidFill>
                  <a:srgbClr val="222222"/>
                </a:solidFill>
              </a:rPr>
              <a:t>Try the 3-second deep breath technique before your next presentation. It activates the calm system in your brain and signals to your body that you are safe.</a:t>
            </a:r>
            <a:endParaRPr lang="en-US" sz="1300" dirty="0"/>
          </a:p>
        </p:txBody>
      </p:sp>
      <p:sp>
        <p:nvSpPr>
          <p:cNvPr id="22" name="Shape 20"/>
          <p:cNvSpPr/>
          <p:nvPr/>
        </p:nvSpPr>
        <p:spPr>
          <a:xfrm>
            <a:off x="365760" y="3840480"/>
            <a:ext cx="8412480" cy="713232"/>
          </a:xfrm>
          <a:prstGeom prst="rect">
            <a:avLst/>
          </a:prstGeom>
          <a:solidFill>
            <a:srgbClr val="F4F7FC"/>
          </a:solidFill>
          <a:ln/>
          <a:effectLst>
            <a:outerShdw blurRad="101600" dist="38100" dir="8100000" algn="bl" rotWithShape="0">
              <a:srgbClr val="000000">
                <a:alpha val="12000"/>
              </a:srgbClr>
            </a:outerShdw>
          </a:effectLst>
        </p:spPr>
      </p:sp>
      <p:sp>
        <p:nvSpPr>
          <p:cNvPr id="23" name="Shape 21"/>
          <p:cNvSpPr/>
          <p:nvPr/>
        </p:nvSpPr>
        <p:spPr>
          <a:xfrm>
            <a:off x="365760" y="3840480"/>
            <a:ext cx="73152" cy="713232"/>
          </a:xfrm>
          <a:prstGeom prst="rect">
            <a:avLst/>
          </a:prstGeom>
          <a:solidFill>
            <a:srgbClr val="F5A623"/>
          </a:solidFill>
          <a:ln/>
        </p:spPr>
      </p:sp>
      <p:sp>
        <p:nvSpPr>
          <p:cNvPr id="24" name="Shape 22"/>
          <p:cNvSpPr/>
          <p:nvPr/>
        </p:nvSpPr>
        <p:spPr>
          <a:xfrm>
            <a:off x="548640" y="3922776"/>
            <a:ext cx="548640" cy="548640"/>
          </a:xfrm>
          <a:prstGeom prst="ellipse">
            <a:avLst/>
          </a:prstGeom>
          <a:solidFill>
            <a:srgbClr val="F5A623"/>
          </a:solidFill>
          <a:ln/>
        </p:spPr>
      </p:sp>
      <p:sp>
        <p:nvSpPr>
          <p:cNvPr id="25" name="Text 23"/>
          <p:cNvSpPr/>
          <p:nvPr/>
        </p:nvSpPr>
        <p:spPr>
          <a:xfrm>
            <a:off x="548640" y="3922776"/>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6" name="Text 24"/>
          <p:cNvSpPr/>
          <p:nvPr/>
        </p:nvSpPr>
        <p:spPr>
          <a:xfrm>
            <a:off x="1234440" y="3840480"/>
            <a:ext cx="7406640" cy="713232"/>
          </a:xfrm>
          <a:prstGeom prst="rect">
            <a:avLst/>
          </a:prstGeom>
          <a:noFill/>
          <a:ln/>
        </p:spPr>
        <p:txBody>
          <a:bodyPr wrap="square" lIns="0" tIns="0" rIns="0" bIns="0" rtlCol="0" anchor="ctr"/>
          <a:lstStyle/>
          <a:p>
            <a:pPr marL="0" indent="0" algn="l">
              <a:buNone/>
            </a:pPr>
            <a:r>
              <a:rPr lang="en-US" sz="1300" dirty="0">
                <a:solidFill>
                  <a:srgbClr val="222222"/>
                </a:solidFill>
              </a:rPr>
              <a:t>“All the great speakers were bad speakers at first.” — Ralph Waldo Emerson. Public speaking is a skill, not a talent. Start speaking, start growing.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2E5A"/>
          </a:solidFill>
          <a:ln/>
        </p:spPr>
      </p:sp>
      <p:sp>
        <p:nvSpPr>
          <p:cNvPr id="3" name="Text 1"/>
          <p:cNvSpPr/>
          <p:nvPr/>
        </p:nvSpPr>
        <p:spPr>
          <a:xfrm>
            <a:off x="274320" y="274320"/>
            <a:ext cx="4572000" cy="502920"/>
          </a:xfrm>
          <a:prstGeom prst="rect">
            <a:avLst/>
          </a:prstGeom>
          <a:noFill/>
          <a:ln/>
        </p:spPr>
        <p:txBody>
          <a:bodyPr wrap="square" lIns="0" tIns="0" rIns="0" bIns="0" rtlCol="0" anchor="ctr"/>
          <a:lstStyle/>
          <a:p>
            <a:pPr marL="0" indent="0" algn="l">
              <a:buNone/>
            </a:pPr>
            <a:r>
              <a:rPr lang="en-US" sz="2800" b="1" dirty="0">
                <a:solidFill>
                  <a:srgbClr val="1A2E5A"/>
                </a:solidFill>
                <a:latin typeface="Calibri" pitchFamily="34" charset="0"/>
                <a:ea typeface="Calibri" pitchFamily="34" charset="-122"/>
                <a:cs typeface="Calibri" pitchFamily="34" charset="-120"/>
              </a:rPr>
              <a:t>References</a:t>
            </a:r>
            <a:endParaRPr lang="en-US" sz="2800" dirty="0"/>
          </a:p>
        </p:txBody>
      </p:sp>
      <p:sp>
        <p:nvSpPr>
          <p:cNvPr id="4" name="Text 2"/>
          <p:cNvSpPr/>
          <p:nvPr/>
        </p:nvSpPr>
        <p:spPr>
          <a:xfrm>
            <a:off x="274320" y="804672"/>
            <a:ext cx="8229600" cy="274320"/>
          </a:xfrm>
          <a:prstGeom prst="rect">
            <a:avLst/>
          </a:prstGeom>
          <a:noFill/>
          <a:ln/>
        </p:spPr>
        <p:txBody>
          <a:bodyPr wrap="square" lIns="0" tIns="0" rIns="0" bIns="0" rtlCol="0" anchor="ctr"/>
          <a:lstStyle/>
          <a:p>
            <a:pPr marL="0" indent="0" algn="l">
              <a:buNone/>
            </a:pPr>
            <a:r>
              <a:rPr lang="en-US" sz="1100" i="1" dirty="0">
                <a:solidFill>
                  <a:srgbClr val="7A8BA6"/>
                </a:solidFill>
              </a:rPr>
              <a:t>Cite your sources — it shows research depth and builds credibility</a:t>
            </a:r>
            <a:endParaRPr lang="en-US" sz="1100" dirty="0"/>
          </a:p>
        </p:txBody>
      </p:sp>
      <p:sp>
        <p:nvSpPr>
          <p:cNvPr id="5" name="Text 3"/>
          <p:cNvSpPr/>
          <p:nvPr/>
        </p:nvSpPr>
        <p:spPr>
          <a:xfrm>
            <a:off x="274320" y="1261872"/>
            <a:ext cx="8503920" cy="621792"/>
          </a:xfrm>
          <a:prstGeom prst="rect">
            <a:avLst/>
          </a:prstGeom>
          <a:noFill/>
          <a:ln/>
        </p:spPr>
        <p:txBody>
          <a:bodyPr wrap="square" lIns="0" tIns="0" rIns="0" bIns="0" rtlCol="0" anchor="t"/>
          <a:lstStyle/>
          <a:p>
            <a:pPr marL="0" indent="0" algn="l">
              <a:buNone/>
            </a:pPr>
            <a:r>
              <a:rPr lang="en-US" sz="1100" b="1" dirty="0">
                <a:solidFill>
                  <a:srgbClr val="2C5F9E"/>
                </a:solidFill>
              </a:rPr>
              <a:t xml:space="preserve">[1]  </a:t>
            </a:r>
            <a:r>
              <a:rPr lang="en-US" sz="1100" dirty="0">
                <a:solidFill>
                  <a:srgbClr val="444444"/>
                </a:solidFill>
              </a:rPr>
              <a:t>Dwyer, K. K., &amp; Davidson, M. M. (2012). Is Public Speaking Really More Feared Than Death? Communication Research Reports, 29(2), 99–107.</a:t>
            </a:r>
            <a:endParaRPr lang="en-US" sz="1100" dirty="0"/>
          </a:p>
        </p:txBody>
      </p:sp>
      <p:sp>
        <p:nvSpPr>
          <p:cNvPr id="6" name="Shape 4"/>
          <p:cNvSpPr/>
          <p:nvPr/>
        </p:nvSpPr>
        <p:spPr>
          <a:xfrm>
            <a:off x="274320" y="1856232"/>
            <a:ext cx="8503920" cy="18288"/>
          </a:xfrm>
          <a:prstGeom prst="rect">
            <a:avLst/>
          </a:prstGeom>
          <a:solidFill>
            <a:srgbClr val="DDDDDD"/>
          </a:solidFill>
          <a:ln/>
        </p:spPr>
      </p:sp>
      <p:sp>
        <p:nvSpPr>
          <p:cNvPr id="7" name="Text 5"/>
          <p:cNvSpPr/>
          <p:nvPr/>
        </p:nvSpPr>
        <p:spPr>
          <a:xfrm>
            <a:off x="274320" y="1956816"/>
            <a:ext cx="8503920" cy="621792"/>
          </a:xfrm>
          <a:prstGeom prst="rect">
            <a:avLst/>
          </a:prstGeom>
          <a:noFill/>
          <a:ln/>
        </p:spPr>
        <p:txBody>
          <a:bodyPr wrap="square" lIns="0" tIns="0" rIns="0" bIns="0" rtlCol="0" anchor="t"/>
          <a:lstStyle/>
          <a:p>
            <a:pPr marL="0" indent="0" algn="l">
              <a:buNone/>
            </a:pPr>
            <a:r>
              <a:rPr lang="en-US" sz="1100" b="1" dirty="0">
                <a:solidFill>
                  <a:srgbClr val="2C5F9E"/>
                </a:solidFill>
              </a:rPr>
              <a:t xml:space="preserve">[2]  </a:t>
            </a:r>
            <a:r>
              <a:rPr lang="en-US" sz="1100" dirty="0">
                <a:solidFill>
                  <a:srgbClr val="444444"/>
                </a:solidFill>
              </a:rPr>
              <a:t>Toastmasters International. (2022). Techniques for Overcoming Public Speaking Anxiety. Retrieved from https://www.toastmasters.org</a:t>
            </a:r>
            <a:endParaRPr lang="en-US" sz="1100" dirty="0"/>
          </a:p>
        </p:txBody>
      </p:sp>
      <p:sp>
        <p:nvSpPr>
          <p:cNvPr id="8" name="Shape 6"/>
          <p:cNvSpPr/>
          <p:nvPr/>
        </p:nvSpPr>
        <p:spPr>
          <a:xfrm>
            <a:off x="274320" y="2551176"/>
            <a:ext cx="8503920" cy="18288"/>
          </a:xfrm>
          <a:prstGeom prst="rect">
            <a:avLst/>
          </a:prstGeom>
          <a:solidFill>
            <a:srgbClr val="DDDDDD"/>
          </a:solidFill>
          <a:ln/>
        </p:spPr>
      </p:sp>
      <p:sp>
        <p:nvSpPr>
          <p:cNvPr id="9" name="Text 7"/>
          <p:cNvSpPr/>
          <p:nvPr/>
        </p:nvSpPr>
        <p:spPr>
          <a:xfrm>
            <a:off x="274320" y="2651760"/>
            <a:ext cx="8503920" cy="621792"/>
          </a:xfrm>
          <a:prstGeom prst="rect">
            <a:avLst/>
          </a:prstGeom>
          <a:noFill/>
          <a:ln/>
        </p:spPr>
        <p:txBody>
          <a:bodyPr wrap="square" lIns="0" tIns="0" rIns="0" bIns="0" rtlCol="0" anchor="t"/>
          <a:lstStyle/>
          <a:p>
            <a:pPr marL="0" indent="0" algn="l">
              <a:buNone/>
            </a:pPr>
            <a:r>
              <a:rPr lang="en-US" sz="1100" b="1" dirty="0">
                <a:solidFill>
                  <a:srgbClr val="2C5F9E"/>
                </a:solidFill>
              </a:rPr>
              <a:t xml:space="preserve">[3]  </a:t>
            </a:r>
            <a:r>
              <a:rPr lang="en-US" sz="1100" dirty="0">
                <a:solidFill>
                  <a:srgbClr val="444444"/>
                </a:solidFill>
              </a:rPr>
              <a:t>National Institute of Mental Health. (2023). Social Anxiety Disorder &amp; Glossophobia. Retrieved from https://www.nimh.nih.gov</a:t>
            </a:r>
            <a:endParaRPr lang="en-US" sz="1100" dirty="0"/>
          </a:p>
        </p:txBody>
      </p:sp>
      <p:sp>
        <p:nvSpPr>
          <p:cNvPr id="10" name="Shape 8"/>
          <p:cNvSpPr/>
          <p:nvPr/>
        </p:nvSpPr>
        <p:spPr>
          <a:xfrm>
            <a:off x="274320" y="3246120"/>
            <a:ext cx="8503920" cy="18288"/>
          </a:xfrm>
          <a:prstGeom prst="rect">
            <a:avLst/>
          </a:prstGeom>
          <a:solidFill>
            <a:srgbClr val="DDDDDD"/>
          </a:solidFill>
          <a:ln/>
        </p:spPr>
      </p:sp>
      <p:sp>
        <p:nvSpPr>
          <p:cNvPr id="11" name="Text 9"/>
          <p:cNvSpPr/>
          <p:nvPr/>
        </p:nvSpPr>
        <p:spPr>
          <a:xfrm>
            <a:off x="274320" y="3346704"/>
            <a:ext cx="8503920" cy="621792"/>
          </a:xfrm>
          <a:prstGeom prst="rect">
            <a:avLst/>
          </a:prstGeom>
          <a:noFill/>
          <a:ln/>
        </p:spPr>
        <p:txBody>
          <a:bodyPr wrap="square" lIns="0" tIns="0" rIns="0" bIns="0" rtlCol="0" anchor="t"/>
          <a:lstStyle/>
          <a:p>
            <a:pPr marL="0" indent="0" algn="l">
              <a:buNone/>
            </a:pPr>
            <a:r>
              <a:rPr lang="en-US" sz="1100" b="1" dirty="0">
                <a:solidFill>
                  <a:srgbClr val="2C5F9E"/>
                </a:solidFill>
              </a:rPr>
              <a:t xml:space="preserve">[4]  </a:t>
            </a:r>
            <a:r>
              <a:rPr lang="en-US" sz="1100" dirty="0">
                <a:solidFill>
                  <a:srgbClr val="444444"/>
                </a:solidFill>
              </a:rPr>
              <a:t>Anderson, C. (2016). TED Talks: The Official TED Guide to Public Speaking. Houghton Mifflin Harcourt.</a:t>
            </a:r>
            <a:endParaRPr lang="en-US" sz="1100" dirty="0"/>
          </a:p>
        </p:txBody>
      </p:sp>
      <p:sp>
        <p:nvSpPr>
          <p:cNvPr id="12" name="Shape 10"/>
          <p:cNvSpPr/>
          <p:nvPr/>
        </p:nvSpPr>
        <p:spPr>
          <a:xfrm>
            <a:off x="274320" y="3941064"/>
            <a:ext cx="8503920" cy="18288"/>
          </a:xfrm>
          <a:prstGeom prst="rect">
            <a:avLst/>
          </a:prstGeom>
          <a:solidFill>
            <a:srgbClr val="DDDDDD"/>
          </a:solidFill>
          <a:ln/>
        </p:spPr>
      </p:sp>
      <p:sp>
        <p:nvSpPr>
          <p:cNvPr id="13" name="Text 11"/>
          <p:cNvSpPr/>
          <p:nvPr/>
        </p:nvSpPr>
        <p:spPr>
          <a:xfrm>
            <a:off x="274320" y="4041648"/>
            <a:ext cx="8503920" cy="621792"/>
          </a:xfrm>
          <a:prstGeom prst="rect">
            <a:avLst/>
          </a:prstGeom>
          <a:noFill/>
          <a:ln/>
        </p:spPr>
        <p:txBody>
          <a:bodyPr wrap="square" lIns="0" tIns="0" rIns="0" bIns="0" rtlCol="0" anchor="t"/>
          <a:lstStyle/>
          <a:p>
            <a:pPr marL="0" indent="0" algn="l">
              <a:buNone/>
            </a:pPr>
            <a:r>
              <a:rPr lang="en-US" sz="1100" b="1" dirty="0">
                <a:solidFill>
                  <a:srgbClr val="2C5F9E"/>
                </a:solidFill>
              </a:rPr>
              <a:t xml:space="preserve">[5]  </a:t>
            </a:r>
            <a:r>
              <a:rPr lang="en-US" sz="1100" dirty="0">
                <a:solidFill>
                  <a:srgbClr val="444444"/>
                </a:solidFill>
              </a:rPr>
              <a:t>Carnegie, D. (1936). The Art of Public Speaking and How to Win Friends &amp; Influence People. Simon &amp; Schuster.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E5A"/>
        </a:solidFill>
        <a:effectLst/>
      </p:bgPr>
    </p:bg>
    <p:spTree>
      <p:nvGrpSpPr>
        <p:cNvPr id="1" name=""/>
        <p:cNvGrpSpPr/>
        <p:nvPr/>
      </p:nvGrpSpPr>
      <p:grpSpPr>
        <a:xfrm>
          <a:off x="0" y="0"/>
          <a:ext cx="0" cy="0"/>
          <a:chOff x="0" y="0"/>
          <a:chExt cx="0" cy="0"/>
        </a:xfrm>
      </p:grpSpPr>
      <p:sp>
        <p:nvSpPr>
          <p:cNvPr id="2" name="Shape 0"/>
          <p:cNvSpPr/>
          <p:nvPr/>
        </p:nvSpPr>
        <p:spPr>
          <a:xfrm>
            <a:off x="5943600" y="-914400"/>
            <a:ext cx="4572000" cy="4572000"/>
          </a:xfrm>
          <a:prstGeom prst="ellipse">
            <a:avLst/>
          </a:prstGeom>
          <a:solidFill>
            <a:srgbClr val="2C5F9E">
              <a:alpha val="45000"/>
            </a:srgbClr>
          </a:solidFill>
          <a:ln/>
        </p:spPr>
      </p:sp>
      <p:sp>
        <p:nvSpPr>
          <p:cNvPr id="3" name="Shape 1"/>
          <p:cNvSpPr/>
          <p:nvPr/>
        </p:nvSpPr>
        <p:spPr>
          <a:xfrm>
            <a:off x="6858000" y="2743200"/>
            <a:ext cx="3657600" cy="3657600"/>
          </a:xfrm>
          <a:prstGeom prst="ellipse">
            <a:avLst/>
          </a:prstGeom>
          <a:solidFill>
            <a:srgbClr val="4A90D9">
              <a:alpha val="35000"/>
            </a:srgbClr>
          </a:solidFill>
          <a:ln/>
        </p:spPr>
      </p:sp>
      <p:sp>
        <p:nvSpPr>
          <p:cNvPr id="4" name="Text 2"/>
          <p:cNvSpPr/>
          <p:nvPr/>
        </p:nvSpPr>
        <p:spPr>
          <a:xfrm>
            <a:off x="457200" y="640080"/>
            <a:ext cx="5486400" cy="1097280"/>
          </a:xfrm>
          <a:prstGeom prst="rect">
            <a:avLst/>
          </a:prstGeom>
          <a:noFill/>
          <a:ln/>
        </p:spPr>
        <p:txBody>
          <a:bodyPr wrap="square" lIns="0" tIns="0" rIns="0" bIns="0" rtlCol="0" anchor="ctr"/>
          <a:lstStyle/>
          <a:p>
            <a:pPr marL="0" indent="0" algn="l">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5" name="Shape 3"/>
          <p:cNvSpPr/>
          <p:nvPr/>
        </p:nvSpPr>
        <p:spPr>
          <a:xfrm>
            <a:off x="457200" y="1828800"/>
            <a:ext cx="3200400" cy="54864"/>
          </a:xfrm>
          <a:prstGeom prst="rect">
            <a:avLst/>
          </a:prstGeom>
          <a:solidFill>
            <a:srgbClr val="F5A623"/>
          </a:solidFill>
          <a:ln/>
        </p:spPr>
      </p:sp>
      <p:sp>
        <p:nvSpPr>
          <p:cNvPr id="6" name="Text 4"/>
          <p:cNvSpPr/>
          <p:nvPr/>
        </p:nvSpPr>
        <p:spPr>
          <a:xfrm>
            <a:off x="457200" y="2011680"/>
            <a:ext cx="5486400" cy="457200"/>
          </a:xfrm>
          <a:prstGeom prst="rect">
            <a:avLst/>
          </a:prstGeom>
          <a:noFill/>
          <a:ln/>
        </p:spPr>
        <p:txBody>
          <a:bodyPr wrap="square" lIns="0" tIns="0" rIns="0" bIns="0" rtlCol="0" anchor="ctr"/>
          <a:lstStyle/>
          <a:p>
            <a:pPr marL="0" indent="0" algn="l">
              <a:buNone/>
            </a:pPr>
            <a:r>
              <a:rPr lang="en-US" sz="1600" b="1" dirty="0">
                <a:solidFill>
                  <a:srgbClr val="F5A623"/>
                </a:solidFill>
              </a:rPr>
              <a:t>We welcome your questions!</a:t>
            </a:r>
            <a:endParaRPr lang="en-US" sz="1600" dirty="0"/>
          </a:p>
        </p:txBody>
      </p:sp>
      <p:sp>
        <p:nvSpPr>
          <p:cNvPr id="7" name="Text 5"/>
          <p:cNvSpPr/>
          <p:nvPr/>
        </p:nvSpPr>
        <p:spPr>
          <a:xfrm>
            <a:off x="457200" y="2606040"/>
            <a:ext cx="6400800" cy="365760"/>
          </a:xfrm>
          <a:prstGeom prst="rect">
            <a:avLst/>
          </a:prstGeom>
          <a:noFill/>
          <a:ln/>
        </p:spPr>
        <p:txBody>
          <a:bodyPr wrap="square" lIns="0" tIns="0" rIns="0" bIns="0" rtlCol="0" anchor="ctr"/>
          <a:lstStyle/>
          <a:p>
            <a:pPr marL="0" indent="0" algn="l">
              <a:buNone/>
            </a:pPr>
            <a:r>
              <a:rPr lang="en-US" sz="1200" b="1" dirty="0">
                <a:solidFill>
                  <a:srgbClr val="F5A623"/>
                </a:solidFill>
              </a:rPr>
              <a:t xml:space="preserve">Presented by:  </a:t>
            </a:r>
            <a:r>
              <a:rPr lang="en-US" sz="1200" dirty="0">
                <a:solidFill>
                  <a:srgbClr val="CCDDFF"/>
                </a:solidFill>
              </a:rPr>
              <a:t>Member 1  •  Member 2  •  Member 3  •  Member 4  •  Member 5</a:t>
            </a:r>
            <a:endParaRPr lang="en-US" sz="1200" dirty="0"/>
          </a:p>
        </p:txBody>
      </p:sp>
      <p:sp>
        <p:nvSpPr>
          <p:cNvPr id="8" name="Text 6"/>
          <p:cNvSpPr/>
          <p:nvPr/>
        </p:nvSpPr>
        <p:spPr>
          <a:xfrm>
            <a:off x="457200" y="3017520"/>
            <a:ext cx="6400800" cy="365760"/>
          </a:xfrm>
          <a:prstGeom prst="rect">
            <a:avLst/>
          </a:prstGeom>
          <a:noFill/>
          <a:ln/>
        </p:spPr>
        <p:txBody>
          <a:bodyPr wrap="square" lIns="0" tIns="0" rIns="0" bIns="0" rtlCol="0" anchor="ctr"/>
          <a:lstStyle/>
          <a:p>
            <a:pPr marL="0" indent="0" algn="l">
              <a:buNone/>
            </a:pPr>
            <a:r>
              <a:rPr lang="en-US" sz="1200" b="1" dirty="0">
                <a:solidFill>
                  <a:srgbClr val="F5A623"/>
                </a:solidFill>
              </a:rPr>
              <a:t xml:space="preserve">Topic:  </a:t>
            </a:r>
            <a:r>
              <a:rPr lang="en-US" sz="1200" dirty="0">
                <a:solidFill>
                  <a:srgbClr val="CCDDFF"/>
                </a:solidFill>
              </a:rPr>
              <a:t>Public Speaking &amp; Stage Fear</a:t>
            </a:r>
            <a:endParaRPr lang="en-US" sz="1200" dirty="0"/>
          </a:p>
        </p:txBody>
      </p:sp>
      <p:sp>
        <p:nvSpPr>
          <p:cNvPr id="9" name="Shape 7"/>
          <p:cNvSpPr/>
          <p:nvPr/>
        </p:nvSpPr>
        <p:spPr>
          <a:xfrm>
            <a:off x="457200" y="3520440"/>
            <a:ext cx="5029200" cy="1188720"/>
          </a:xfrm>
          <a:prstGeom prst="rect">
            <a:avLst/>
          </a:prstGeom>
          <a:solidFill>
            <a:srgbClr val="2C5F9E">
              <a:alpha val="50000"/>
            </a:srgbClr>
          </a:solidFill>
          <a:ln/>
        </p:spPr>
      </p:sp>
      <p:sp>
        <p:nvSpPr>
          <p:cNvPr id="10" name="Shape 8"/>
          <p:cNvSpPr/>
          <p:nvPr/>
        </p:nvSpPr>
        <p:spPr>
          <a:xfrm>
            <a:off x="457200" y="3520440"/>
            <a:ext cx="73152" cy="1188720"/>
          </a:xfrm>
          <a:prstGeom prst="rect">
            <a:avLst/>
          </a:prstGeom>
          <a:solidFill>
            <a:srgbClr val="F5A623"/>
          </a:solidFill>
          <a:ln/>
        </p:spPr>
      </p:sp>
      <p:sp>
        <p:nvSpPr>
          <p:cNvPr id="11" name="Text 9"/>
          <p:cNvSpPr/>
          <p:nvPr/>
        </p:nvSpPr>
        <p:spPr>
          <a:xfrm>
            <a:off x="594360" y="3547872"/>
            <a:ext cx="4754880" cy="1143000"/>
          </a:xfrm>
          <a:prstGeom prst="rect">
            <a:avLst/>
          </a:prstGeom>
          <a:noFill/>
          <a:ln/>
        </p:spPr>
        <p:txBody>
          <a:bodyPr wrap="square" lIns="0" tIns="0" rIns="0" bIns="0" rtlCol="0" anchor="t"/>
          <a:lstStyle/>
          <a:p>
            <a:pPr marL="0" indent="0" algn="l">
              <a:buNone/>
            </a:pPr>
            <a:r>
              <a:rPr lang="en-US" sz="1100" b="1" dirty="0">
                <a:solidFill>
                  <a:srgbClr val="F5A623"/>
                </a:solidFill>
              </a:rPr>
              <a:t>Q&amp;A Tips:
</a:t>
            </a:r>
            <a:endParaRPr lang="en-US" sz="1100" dirty="0"/>
          </a:p>
          <a:p>
            <a:pPr marL="0" indent="0" algn="l">
              <a:buNone/>
            </a:pPr>
            <a:r>
              <a:rPr lang="en-US" sz="1100" dirty="0">
                <a:solidFill>
                  <a:srgbClr val="DDEEFF"/>
                </a:solidFill>
              </a:rPr>
              <a:t>• Listen carefully before answering  •  It's OK to say 'That's a great question, let me think…'
</a:t>
            </a:r>
            <a:endParaRPr lang="en-US" sz="1100" dirty="0"/>
          </a:p>
          <a:p>
            <a:pPr marL="0" indent="0" algn="l">
              <a:buNone/>
            </a:pPr>
            <a:r>
              <a:rPr lang="en-US" sz="1100" dirty="0">
                <a:solidFill>
                  <a:srgbClr val="DDEEFF"/>
                </a:solidFill>
              </a:rPr>
              <a:t>• Support teammates if they're asked about your topic  •  Be concise and confident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5A"/>
          </a:solidFill>
          <a:ln/>
        </p:spPr>
      </p:sp>
      <p:sp>
        <p:nvSpPr>
          <p:cNvPr id="3" name="Text 1"/>
          <p:cNvSpPr/>
          <p:nvPr/>
        </p:nvSpPr>
        <p:spPr>
          <a:xfrm>
            <a:off x="365760" y="0"/>
            <a:ext cx="4572000" cy="685800"/>
          </a:xfrm>
          <a:prstGeom prst="rect">
            <a:avLst/>
          </a:prstGeom>
          <a:noFill/>
          <a:ln/>
        </p:spPr>
        <p:txBody>
          <a:bodyPr wrap="square" lIns="0" tIns="0" rIns="0" bIns="0" rtlCol="0" anchor="ctr"/>
          <a:lstStyle/>
          <a:p>
            <a:pPr marL="0" indent="0" algn="l">
              <a:buNone/>
            </a:pPr>
            <a:r>
              <a:rPr lang="en-US" sz="2200" b="1" dirty="0">
                <a:solidFill>
                  <a:srgbClr val="FFFFFF"/>
                </a:solidFill>
              </a:rPr>
              <a:t>Why This Topic Matters</a:t>
            </a:r>
            <a:endParaRPr lang="en-US" sz="2200" dirty="0"/>
          </a:p>
        </p:txBody>
      </p:sp>
      <p:sp>
        <p:nvSpPr>
          <p:cNvPr id="4" name="Shape 2"/>
          <p:cNvSpPr/>
          <p:nvPr/>
        </p:nvSpPr>
        <p:spPr>
          <a:xfrm>
            <a:off x="7863840" y="210312"/>
            <a:ext cx="1097280" cy="256032"/>
          </a:xfrm>
          <a:prstGeom prst="roundRect">
            <a:avLst>
              <a:gd name="adj" fmla="val 17857"/>
            </a:avLst>
          </a:prstGeom>
          <a:solidFill>
            <a:srgbClr val="4A90D9"/>
          </a:solidFill>
          <a:ln/>
        </p:spPr>
      </p:sp>
      <p:sp>
        <p:nvSpPr>
          <p:cNvPr id="5" name="Text 3"/>
          <p:cNvSpPr/>
          <p:nvPr/>
        </p:nvSpPr>
        <p:spPr>
          <a:xfrm>
            <a:off x="7863840" y="210312"/>
            <a:ext cx="109728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01</a:t>
            </a:r>
            <a:endParaRPr lang="en-US" sz="900" dirty="0"/>
          </a:p>
        </p:txBody>
      </p:sp>
      <p:sp>
        <p:nvSpPr>
          <p:cNvPr id="6" name="Text 4"/>
          <p:cNvSpPr/>
          <p:nvPr/>
        </p:nvSpPr>
        <p:spPr>
          <a:xfrm>
            <a:off x="365760" y="914400"/>
            <a:ext cx="4846320" cy="502920"/>
          </a:xfrm>
          <a:prstGeom prst="rect">
            <a:avLst/>
          </a:prstGeom>
          <a:noFill/>
          <a:ln/>
        </p:spPr>
        <p:txBody>
          <a:bodyPr wrap="square" lIns="0" tIns="0" rIns="0" bIns="0" rtlCol="0" anchor="ctr"/>
          <a:lstStyle/>
          <a:p>
            <a:pPr marL="0" indent="0" algn="l">
              <a:buNone/>
            </a:pPr>
            <a:r>
              <a:rPr lang="en-US" sz="2000" b="1" dirty="0">
                <a:solidFill>
                  <a:srgbClr val="1A2E5A"/>
                </a:solidFill>
              </a:rPr>
              <a:t>Why This Topic Matters Professionally</a:t>
            </a:r>
            <a:endParaRPr lang="en-US" sz="2000" dirty="0"/>
          </a:p>
        </p:txBody>
      </p:sp>
      <p:sp>
        <p:nvSpPr>
          <p:cNvPr id="7" name="Text 5"/>
          <p:cNvSpPr/>
          <p:nvPr/>
        </p:nvSpPr>
        <p:spPr>
          <a:xfrm>
            <a:off x="365760" y="1508760"/>
            <a:ext cx="4846320" cy="2286000"/>
          </a:xfrm>
          <a:prstGeom prst="rect">
            <a:avLst/>
          </a:prstGeom>
          <a:noFill/>
          <a:ln/>
        </p:spPr>
        <p:txBody>
          <a:bodyPr wrap="square" lIns="0" tIns="0" rIns="0" bIns="0" rtlCol="0" anchor="t"/>
          <a:lstStyle/>
          <a:p>
            <a:pPr marL="0" indent="0" algn="l">
              <a:buNone/>
            </a:pPr>
            <a:r>
              <a:rPr lang="en-US" sz="1300" dirty="0">
                <a:solidFill>
                  <a:srgbClr val="3A3A3A"/>
                </a:solidFill>
              </a:rPr>
              <a:t>Employers rank communication as the #1 soft skill. Students who present confidently in placements, viva exams, and GDs gain a measurable edge — regardless of their technical knowledge.</a:t>
            </a:r>
            <a:endParaRPr lang="en-US" sz="1300" dirty="0"/>
          </a:p>
          <a:p>
            <a:pPr marL="0" indent="0" algn="l">
              <a:buNone/>
            </a:pPr>
            <a:r>
              <a:rPr lang="en-US" sz="1300" dirty="0">
                <a:solidFill>
                  <a:srgbClr val="3A3A3A"/>
                </a:solidFill>
              </a:rPr>
              <a:t xml:space="preserve"> </a:t>
            </a:r>
            <a:endParaRPr lang="en-US" sz="1300" dirty="0"/>
          </a:p>
          <a:p>
            <a:pPr marL="0" indent="0" algn="l">
              <a:buNone/>
            </a:pPr>
            <a:r>
              <a:rPr lang="en-US" sz="1300" dirty="0">
                <a:solidFill>
                  <a:srgbClr val="3A3A3A"/>
                </a:solidFill>
              </a:rPr>
              <a:t>Even in IT, developers must present to clients and managers. Poor communication makes brilliant ideas seem weak. Confident delivery makes average ideas sound great.</a:t>
            </a:r>
            <a:endParaRPr lang="en-US" sz="1300" dirty="0"/>
          </a:p>
          <a:p>
            <a:pPr marL="0" indent="0" algn="l">
              <a:buNone/>
            </a:pPr>
            <a:r>
              <a:rPr lang="en-US" sz="1300" dirty="0">
                <a:solidFill>
                  <a:srgbClr val="3A3A3A"/>
                </a:solidFill>
              </a:rPr>
              <a:t xml:space="preserve"> </a:t>
            </a:r>
            <a:endParaRPr lang="en-US" sz="1300" dirty="0"/>
          </a:p>
          <a:p>
            <a:pPr marL="0" indent="0" algn="l">
              <a:buNone/>
            </a:pPr>
            <a:r>
              <a:rPr lang="en-US" sz="1300" dirty="0">
                <a:solidFill>
                  <a:srgbClr val="3A3A3A"/>
                </a:solidFill>
              </a:rPr>
              <a:t>💡 Key insight: Public speaking is not a talent — it is a daily skill every PGCP professional will need.</a:t>
            </a:r>
            <a:endParaRPr lang="en-US" sz="1300" dirty="0"/>
          </a:p>
        </p:txBody>
      </p:sp>
      <p:sp>
        <p:nvSpPr>
          <p:cNvPr id="8" name="Shape 6"/>
          <p:cNvSpPr/>
          <p:nvPr/>
        </p:nvSpPr>
        <p:spPr>
          <a:xfrm>
            <a:off x="365760" y="3977640"/>
            <a:ext cx="4846320" cy="777240"/>
          </a:xfrm>
          <a:prstGeom prst="rect">
            <a:avLst/>
          </a:prstGeom>
          <a:solidFill>
            <a:srgbClr val="E8EFF8"/>
          </a:solidFill>
          <a:ln/>
        </p:spPr>
      </p:sp>
      <p:sp>
        <p:nvSpPr>
          <p:cNvPr id="10" name="Text 8"/>
          <p:cNvSpPr/>
          <p:nvPr/>
        </p:nvSpPr>
        <p:spPr>
          <a:xfrm>
            <a:off x="502920" y="3977640"/>
            <a:ext cx="4663440" cy="777240"/>
          </a:xfrm>
          <a:prstGeom prst="rect">
            <a:avLst/>
          </a:prstGeom>
          <a:noFill/>
          <a:ln/>
        </p:spPr>
        <p:txBody>
          <a:bodyPr wrap="square" lIns="0" tIns="0" rIns="0" bIns="0" rtlCol="0" anchor="ctr"/>
          <a:lstStyle/>
          <a:p>
            <a:pPr marL="0" indent="0" algn="l">
              <a:buNone/>
            </a:pPr>
            <a:r>
              <a:rPr lang="en-US" sz="1100" b="1" dirty="0">
                <a:solidFill>
                  <a:srgbClr val="F5A623"/>
                </a:solidFill>
              </a:rPr>
              <a:t xml:space="preserve"> Speaker Note: </a:t>
            </a:r>
            <a:r>
              <a:rPr lang="en-US" sz="1100" dirty="0">
                <a:solidFill>
                  <a:srgbClr val="1A2E5A"/>
                </a:solidFill>
              </a:rPr>
              <a:t>Explain the professional stakes clearly. Connect to the audience’s own placement interviews and viva experiences.</a:t>
            </a:r>
            <a:endParaRPr lang="en-US" sz="1100" dirty="0"/>
          </a:p>
        </p:txBody>
      </p:sp>
      <p:sp>
        <p:nvSpPr>
          <p:cNvPr id="12" name="Text 10"/>
          <p:cNvSpPr/>
          <p:nvPr/>
        </p:nvSpPr>
        <p:spPr>
          <a:xfrm>
            <a:off x="5577840" y="914400"/>
            <a:ext cx="3200400" cy="3200400"/>
          </a:xfrm>
          <a:prstGeom prst="rect">
            <a:avLst/>
          </a:prstGeom>
          <a:noFill/>
          <a:ln/>
        </p:spPr>
        <p:txBody>
          <a:bodyPr wrap="square" lIns="0" tIns="0" rIns="0" bIns="0" rtlCol="0" anchor="ctr"/>
          <a:lstStyle/>
          <a:p>
            <a:pPr marL="0" indent="0" algn="ctr">
              <a:buNone/>
            </a:pPr>
            <a:r>
              <a:rPr lang="en-US" sz="2800" dirty="0">
                <a:solidFill>
                  <a:srgbClr val="7A8BA6"/>
                </a:solidFill>
              </a:rPr>
              <a:t>📷
</a:t>
            </a:r>
            <a:r>
              <a:rPr lang="en-US" sz="1200" b="1" dirty="0">
                <a:solidFill>
                  <a:srgbClr val="7A8BA6"/>
                </a:solidFill>
              </a:rPr>
              <a:t xml:space="preserve"> Add Image / Diagram
</a:t>
            </a:r>
            <a:endParaRPr lang="en-US" sz="1200" dirty="0"/>
          </a:p>
          <a:p>
            <a:pPr marL="0" indent="0" algn="ctr">
              <a:buNone/>
            </a:pPr>
            <a:r>
              <a:rPr lang="en-US" sz="1000" i="1" dirty="0">
                <a:solidFill>
                  <a:srgbClr val="7A8BA6"/>
                </a:solidFill>
              </a:rPr>
              <a:t>(relevant to your topic)</a:t>
            </a:r>
            <a:endParaRPr lang="en-US" sz="1200" dirty="0"/>
          </a:p>
        </p:txBody>
      </p:sp>
      <p:pic xmlns:p="http://schemas.openxmlformats.org/presentationml/2006/main" xmlns:a="http://schemas.openxmlformats.org/drawingml/2006/main" xmlns:r="http://schemas.openxmlformats.org/officeDocument/2006/relationships">
        <p:nvPicPr>
          <p:cNvPr id="999" name="EmbeddedImage_rId2"/>
          <p:cNvPicPr>
            <a:picLocks noChangeAspect="1"/>
          </p:cNvPicPr>
          <p:nvPr/>
        </p:nvPicPr>
        <p:blipFill>
          <a:blip r:embed="rId2"/>
          <a:stretch>
            <a:fillRect/>
          </a:stretch>
        </p:blipFill>
        <p:spPr>
          <a:xfrm>
            <a:off x="5577840" y="914400"/>
            <a:ext cx="3200400" cy="3200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5A"/>
          </a:solidFill>
          <a:ln/>
        </p:spPr>
      </p:sp>
      <p:sp>
        <p:nvSpPr>
          <p:cNvPr id="3" name="Text 1"/>
          <p:cNvSpPr/>
          <p:nvPr/>
        </p:nvSpPr>
        <p:spPr>
          <a:xfrm>
            <a:off x="365760" y="0"/>
            <a:ext cx="6400800" cy="685800"/>
          </a:xfrm>
          <a:prstGeom prst="rect">
            <a:avLst/>
          </a:prstGeom>
          <a:noFill/>
          <a:ln/>
        </p:spPr>
        <p:txBody>
          <a:bodyPr wrap="square" lIns="0" tIns="0" rIns="0" bIns="0" rtlCol="0" anchor="ctr"/>
          <a:lstStyle/>
          <a:p>
            <a:pPr marL="0" indent="0" algn="l">
              <a:buNone/>
            </a:pPr>
            <a:r>
              <a:rPr lang="en-US" sz="2200" b="1" dirty="0">
                <a:solidFill>
                  <a:srgbClr val="FFFFFF"/>
                </a:solidFill>
              </a:rPr>
              <a:t>Real People: Buffett &amp; Gandhi</a:t>
            </a:r>
            <a:endParaRPr lang="en-US" sz="2200" dirty="0"/>
          </a:p>
        </p:txBody>
      </p:sp>
      <p:sp>
        <p:nvSpPr>
          <p:cNvPr id="4" name="Shape 2"/>
          <p:cNvSpPr/>
          <p:nvPr/>
        </p:nvSpPr>
        <p:spPr>
          <a:xfrm>
            <a:off x="7863840" y="210312"/>
            <a:ext cx="1097280" cy="256032"/>
          </a:xfrm>
          <a:prstGeom prst="roundRect">
            <a:avLst>
              <a:gd name="adj" fmla="val 17857"/>
            </a:avLst>
          </a:prstGeom>
          <a:solidFill>
            <a:srgbClr val="4A90D9"/>
          </a:solidFill>
          <a:ln/>
        </p:spPr>
      </p:sp>
      <p:sp>
        <p:nvSpPr>
          <p:cNvPr id="5" name="Text 3"/>
          <p:cNvSpPr/>
          <p:nvPr/>
        </p:nvSpPr>
        <p:spPr>
          <a:xfrm>
            <a:off x="7863840" y="210312"/>
            <a:ext cx="109728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03</a:t>
            </a:r>
            <a:endParaRPr lang="en-US" sz="900" dirty="0"/>
          </a:p>
        </p:txBody>
      </p:sp>
      <p:sp>
        <p:nvSpPr>
          <p:cNvPr id="6" name="Text 4"/>
          <p:cNvSpPr/>
          <p:nvPr/>
        </p:nvSpPr>
        <p:spPr>
          <a:xfrm>
            <a:off x="365760" y="914400"/>
            <a:ext cx="4846320" cy="457200"/>
          </a:xfrm>
          <a:prstGeom prst="rect">
            <a:avLst/>
          </a:prstGeom>
          <a:noFill/>
          <a:ln/>
        </p:spPr>
        <p:txBody>
          <a:bodyPr wrap="square" lIns="0" tIns="0" rIns="0" bIns="0" rtlCol="0" anchor="ctr"/>
          <a:lstStyle/>
          <a:p>
            <a:pPr marL="0" indent="0" algn="l">
              <a:buNone/>
            </a:pPr>
            <a:r>
              <a:rPr lang="en-US" sz="1800" b="1" dirty="0">
                <a:solidFill>
                  <a:srgbClr val="1A2E5A"/>
                </a:solidFill>
              </a:rPr>
              <a:t>Real People Who Overcame Stage Fear</a:t>
            </a:r>
            <a:endParaRPr lang="en-US" sz="1800" dirty="0"/>
          </a:p>
        </p:txBody>
      </p:sp>
      <p:sp>
        <p:nvSpPr>
          <p:cNvPr id="7" name="Text 5"/>
          <p:cNvSpPr/>
          <p:nvPr/>
        </p:nvSpPr>
        <p:spPr>
          <a:xfrm>
            <a:off x="365760" y="1463040"/>
            <a:ext cx="4846320" cy="2286000"/>
          </a:xfrm>
          <a:prstGeom prst="rect">
            <a:avLst/>
          </a:prstGeom>
          <a:noFill/>
          <a:ln/>
        </p:spPr>
        <p:txBody>
          <a:bodyPr wrap="square" lIns="0" tIns="0" rIns="0" bIns="0" rtlCol="0" anchor="t"/>
          <a:lstStyle/>
          <a:p>
            <a:pPr marL="0" indent="0" algn="l">
              <a:buNone/>
            </a:pPr>
            <a:r>
              <a:rPr lang="en-US" sz="1300" b="1" dirty="0">
                <a:solidFill>
                  <a:srgbClr val="2C5F9E"/>
                </a:solidFill>
              </a:rPr>
              <a:t xml:space="preserve">Point 1: </a:t>
            </a:r>
            <a:r>
              <a:rPr lang="en-US" sz="1300" dirty="0">
                <a:solidFill>
                  <a:srgbClr val="222222"/>
                </a:solidFill>
              </a:rPr>
              <a:t>Warren Buffett — one of the world's wealthiest investors — was so terrified of public speaking as a young man that he would physically get sick before having to speak. He avoided it entirely.</a:t>
            </a:r>
            <a:endParaRPr lang="en-US" sz="1300" dirty="0"/>
          </a:p>
          <a:p>
            <a:pPr marL="0" indent="0" algn="l">
              <a:buNone/>
            </a:pPr>
            <a:r>
              <a:rPr lang="en-US" sz="1300" dirty="0">
                <a:solidFill>
                  <a:srgbClr val="000000"/>
                </a:solidFill>
              </a:rPr>
              <a:t xml:space="preserve"> </a:t>
            </a:r>
            <a:endParaRPr lang="en-US" sz="1300" dirty="0"/>
          </a:p>
          <a:p>
            <a:pPr marL="0" indent="0" algn="l">
              <a:buNone/>
            </a:pPr>
            <a:r>
              <a:rPr lang="en-US" sz="1300" b="1" dirty="0">
                <a:solidFill>
                  <a:srgbClr val="2C5F9E"/>
                </a:solidFill>
              </a:rPr>
              <a:t xml:space="preserve">Point 2: </a:t>
            </a:r>
            <a:r>
              <a:rPr lang="en-US" sz="1300" dirty="0">
                <a:solidFill>
                  <a:srgbClr val="222222"/>
                </a:solidFill>
              </a:rPr>
              <a:t>At age 20, Buffett enrolled in a Dale Carnegie public speaking course. He practiced so consistently that within a year he was teaching it. Today he calls that diploma more important than his university degrees.</a:t>
            </a:r>
            <a:endParaRPr lang="en-US" sz="1300" dirty="0"/>
          </a:p>
          <a:p>
            <a:pPr marL="0" indent="0" algn="l">
              <a:buNone/>
            </a:pPr>
            <a:r>
              <a:rPr lang="en-US" sz="1300" dirty="0">
                <a:solidFill>
                  <a:srgbClr val="000000"/>
                </a:solidFill>
              </a:rPr>
              <a:t xml:space="preserve"> </a:t>
            </a:r>
            <a:endParaRPr lang="en-US" sz="1300" dirty="0"/>
          </a:p>
          <a:p>
            <a:pPr marL="0" indent="0" algn="l">
              <a:buNone/>
            </a:pPr>
            <a:r>
              <a:rPr lang="en-US" sz="1300" b="1" dirty="0">
                <a:solidFill>
                  <a:srgbClr val="2C5F9E"/>
                </a:solidFill>
              </a:rPr>
              <a:t xml:space="preserve">Point 3: </a:t>
            </a:r>
            <a:r>
              <a:rPr lang="en-US" sz="1300" dirty="0">
                <a:solidFill>
                  <a:srgbClr val="222222"/>
                </a:solidFill>
              </a:rPr>
              <a:t>Mahatma Gandhi froze completely during his very first court case as a lawyer. He could not say a single word — sat back down and had a colleague read his statement for him. He was humiliated.</a:t>
            </a:r>
            <a:endParaRPr lang="en-US" sz="1300" dirty="0"/>
          </a:p>
        </p:txBody>
      </p:sp>
      <p:sp>
        <p:nvSpPr>
          <p:cNvPr id="8" name="Shape 6"/>
          <p:cNvSpPr/>
          <p:nvPr/>
        </p:nvSpPr>
        <p:spPr>
          <a:xfrm>
            <a:off x="5577840" y="822960"/>
            <a:ext cx="3200400" cy="3657600"/>
          </a:xfrm>
          <a:prstGeom prst="rect">
            <a:avLst/>
          </a:prstGeom>
          <a:solidFill>
            <a:srgbClr val="1A2E5A"/>
          </a:solidFill>
          <a:ln/>
          <a:effectLst>
            <a:outerShdw blurRad="101600" dist="38100" dir="8100000" algn="bl" rotWithShape="0">
              <a:srgbClr val="000000">
                <a:alpha val="12000"/>
              </a:srgbClr>
            </a:outerShdw>
          </a:effectLst>
        </p:spPr>
      </p:sp>
      <p:sp>
        <p:nvSpPr>
          <p:cNvPr id="10" name="Shape 8"/>
          <p:cNvSpPr/>
          <p:nvPr/>
        </p:nvSpPr>
        <p:spPr>
          <a:xfrm>
            <a:off x="5577840" y="1463040"/>
            <a:ext cx="3200400" cy="27432"/>
          </a:xfrm>
          <a:prstGeom prst="rect">
            <a:avLst/>
          </a:prstGeom>
          <a:solidFill>
            <a:srgbClr val="4A90D9"/>
          </a:solidFill>
          <a:ln/>
        </p:spPr>
      </p:sp>
      <p:sp>
        <p:nvSpPr>
          <p:cNvPr id="12" name="Shape 10"/>
          <p:cNvSpPr/>
          <p:nvPr/>
        </p:nvSpPr>
        <p:spPr>
          <a:xfrm>
            <a:off x="365760" y="3977640"/>
            <a:ext cx="4846320" cy="777240"/>
          </a:xfrm>
          <a:prstGeom prst="rect">
            <a:avLst/>
          </a:prstGeom>
          <a:solidFill>
            <a:srgbClr val="E8EFF8"/>
          </a:solidFill>
          <a:ln/>
        </p:spPr>
      </p:sp>
      <p:sp>
        <p:nvSpPr>
          <p:cNvPr id="13" name="Shape 11"/>
          <p:cNvSpPr/>
          <p:nvPr/>
        </p:nvSpPr>
        <p:spPr>
          <a:xfrm>
            <a:off x="365760" y="3977640"/>
            <a:ext cx="64008" cy="777240"/>
          </a:xfrm>
          <a:prstGeom prst="rect">
            <a:avLst/>
          </a:prstGeom>
          <a:solidFill>
            <a:srgbClr val="27AE60"/>
          </a:solidFill>
          <a:ln/>
        </p:spPr>
      </p:sp>
      <p:sp>
        <p:nvSpPr>
          <p:cNvPr id="14" name="Text 12"/>
          <p:cNvSpPr/>
          <p:nvPr/>
        </p:nvSpPr>
        <p:spPr>
          <a:xfrm>
            <a:off x="502920" y="3977640"/>
            <a:ext cx="4663440" cy="777240"/>
          </a:xfrm>
          <a:prstGeom prst="rect">
            <a:avLst/>
          </a:prstGeom>
          <a:noFill/>
          <a:ln/>
        </p:spPr>
        <p:txBody>
          <a:bodyPr wrap="square" lIns="0" tIns="0" rIns="0" bIns="0" rtlCol="0" anchor="ctr"/>
          <a:lstStyle/>
          <a:p>
            <a:pPr marL="0" indent="0" algn="l">
              <a:buNone/>
            </a:pPr>
            <a:r>
              <a:rPr lang="en-US" sz="1100" b="1" dirty="0">
                <a:solidFill>
                  <a:srgbClr val="27AE60"/>
                </a:solidFill>
              </a:rPr>
              <a:t xml:space="preserve"> Evaluation Tip: </a:t>
            </a:r>
            <a:r>
              <a:rPr lang="en-US" sz="1100" dirty="0">
                <a:solidFill>
                  <a:srgbClr val="1A2E5A"/>
                </a:solidFill>
              </a:rPr>
              <a:t>This slide tests your Individual Content Contribution score. Know this section deeply — you'll be asked about it.</a:t>
            </a:r>
            <a:endParaRPr lang="en-US" sz="1100" dirty="0"/>
          </a:p>
        </p:txBody>
      </p:sp>
      <p:pic xmlns:p="http://schemas.openxmlformats.org/presentationml/2006/main" xmlns:a="http://schemas.openxmlformats.org/drawingml/2006/main" xmlns:r="http://schemas.openxmlformats.org/officeDocument/2006/relationships">
        <p:nvPicPr>
          <p:cNvPr id="999" name="EmbeddedImage_rId2"/>
          <p:cNvPicPr>
            <a:picLocks noChangeAspect="1"/>
          </p:cNvPicPr>
          <p:nvPr/>
        </p:nvPicPr>
        <p:blipFill>
          <a:blip r:embed="rId2"/>
          <a:stretch>
            <a:fillRect/>
          </a:stretch>
        </p:blipFill>
        <p:spPr>
          <a:xfrm>
            <a:off x="5577840" y="914400"/>
            <a:ext cx="3200400" cy="3200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5A"/>
          </a:solidFill>
          <a:ln/>
        </p:spPr>
      </p:sp>
      <p:sp>
        <p:nvSpPr>
          <p:cNvPr id="3" name="Text 1"/>
          <p:cNvSpPr/>
          <p:nvPr/>
        </p:nvSpPr>
        <p:spPr>
          <a:xfrm>
            <a:off x="365760" y="0"/>
            <a:ext cx="6400800" cy="685800"/>
          </a:xfrm>
          <a:prstGeom prst="rect">
            <a:avLst/>
          </a:prstGeom>
          <a:noFill/>
          <a:ln/>
        </p:spPr>
        <p:txBody>
          <a:bodyPr wrap="square" lIns="0" tIns="0" rIns="0" bIns="0" rtlCol="0" anchor="ctr"/>
          <a:lstStyle/>
          <a:p>
            <a:pPr marL="0" indent="0" algn="l">
              <a:buNone/>
            </a:pPr>
            <a:r>
              <a:rPr lang="en-US" sz="2200" b="1" dirty="0">
                <a:solidFill>
                  <a:srgbClr val="FFFFFF"/>
                </a:solidFill>
              </a:rPr>
              <a:t>Student Story &amp; The Common Pattern</a:t>
            </a:r>
            <a:endParaRPr lang="en-US" sz="2200" dirty="0"/>
          </a:p>
        </p:txBody>
      </p:sp>
      <p:sp>
        <p:nvSpPr>
          <p:cNvPr id="4" name="Shape 2"/>
          <p:cNvSpPr/>
          <p:nvPr/>
        </p:nvSpPr>
        <p:spPr>
          <a:xfrm>
            <a:off x="7863840" y="210312"/>
            <a:ext cx="1097280" cy="256032"/>
          </a:xfrm>
          <a:prstGeom prst="roundRect">
            <a:avLst>
              <a:gd name="adj" fmla="val 17857"/>
            </a:avLst>
          </a:prstGeom>
          <a:solidFill>
            <a:srgbClr val="4A90D9"/>
          </a:solidFill>
          <a:ln/>
        </p:spPr>
      </p:sp>
      <p:sp>
        <p:nvSpPr>
          <p:cNvPr id="5" name="Text 3"/>
          <p:cNvSpPr/>
          <p:nvPr/>
        </p:nvSpPr>
        <p:spPr>
          <a:xfrm>
            <a:off x="7863840" y="210312"/>
            <a:ext cx="109728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03</a:t>
            </a:r>
            <a:endParaRPr lang="en-US" sz="900" dirty="0"/>
          </a:p>
        </p:txBody>
      </p:sp>
      <p:sp>
        <p:nvSpPr>
          <p:cNvPr id="6" name="Text 4"/>
          <p:cNvSpPr/>
          <p:nvPr/>
        </p:nvSpPr>
        <p:spPr>
          <a:xfrm>
            <a:off x="365760" y="914400"/>
            <a:ext cx="4846320" cy="457200"/>
          </a:xfrm>
          <a:prstGeom prst="rect">
            <a:avLst/>
          </a:prstGeom>
          <a:noFill/>
          <a:ln/>
        </p:spPr>
        <p:txBody>
          <a:bodyPr wrap="square" lIns="0" tIns="0" rIns="0" bIns="0" rtlCol="0" anchor="ctr"/>
          <a:lstStyle/>
          <a:p>
            <a:pPr marL="0" indent="0" algn="l">
              <a:buNone/>
            </a:pPr>
            <a:r>
              <a:rPr lang="en-US" sz="1800" b="1" dirty="0">
                <a:solidFill>
                  <a:srgbClr val="1A2E5A"/>
                </a:solidFill>
              </a:rPr>
              <a:t>The Student Story &amp; The Common Pattern</a:t>
            </a:r>
            <a:endParaRPr lang="en-US" sz="1800" dirty="0"/>
          </a:p>
        </p:txBody>
      </p:sp>
      <p:sp>
        <p:nvSpPr>
          <p:cNvPr id="7" name="Text 5"/>
          <p:cNvSpPr/>
          <p:nvPr/>
        </p:nvSpPr>
        <p:spPr>
          <a:xfrm>
            <a:off x="365760" y="1463040"/>
            <a:ext cx="4846320" cy="2286000"/>
          </a:xfrm>
          <a:prstGeom prst="rect">
            <a:avLst/>
          </a:prstGeom>
          <a:noFill/>
          <a:ln/>
        </p:spPr>
        <p:txBody>
          <a:bodyPr wrap="square" lIns="0" tIns="0" rIns="0" bIns="0" rtlCol="0" anchor="t"/>
          <a:lstStyle/>
          <a:p>
            <a:pPr marL="0" indent="0" algn="l">
              <a:buNone/>
            </a:pPr>
            <a:r>
              <a:rPr lang="en-US" sz="1300" b="1" dirty="0">
                <a:solidFill>
                  <a:srgbClr val="2C5F9E"/>
                </a:solidFill>
              </a:rPr>
              <a:t xml:space="preserve">Point 1: </a:t>
            </a:r>
            <a:r>
              <a:rPr lang="en-US" sz="1300" dirty="0">
                <a:solidFill>
                  <a:srgbClr val="222222"/>
                </a:solidFill>
              </a:rPr>
              <a:t>Priya (C-DAC student) had a final project presentation in front of 60 people. Despite excellent technical knowledge, she had crippling stage fear that had caused her to freeze before.</a:t>
            </a:r>
            <a:endParaRPr lang="en-US" sz="1300" dirty="0"/>
          </a:p>
          <a:p>
            <a:pPr marL="0" indent="0" algn="l">
              <a:buNone/>
            </a:pPr>
            <a:r>
              <a:rPr lang="en-US" sz="1300" dirty="0">
                <a:solidFill>
                  <a:srgbClr val="000000"/>
                </a:solidFill>
              </a:rPr>
              <a:t xml:space="preserve"> </a:t>
            </a:r>
            <a:endParaRPr lang="en-US" sz="1300" dirty="0"/>
          </a:p>
          <a:p>
            <a:pPr marL="0" indent="0" algn="l">
              <a:buNone/>
            </a:pPr>
            <a:r>
              <a:rPr lang="en-US" sz="1300" b="1" dirty="0">
                <a:solidFill>
                  <a:srgbClr val="2C5F9E"/>
                </a:solidFill>
              </a:rPr>
              <a:t xml:space="preserve">Point 2: </a:t>
            </a:r>
            <a:r>
              <a:rPr lang="en-US" sz="1300" dirty="0">
                <a:solidFill>
                  <a:srgbClr val="222222"/>
                </a:solidFill>
              </a:rPr>
              <a:t>She began practicing daily — first alone in her room, then mirror, then one friend, then two, building gradually. She used the 3-second breathing technique whenever panic rose.</a:t>
            </a:r>
            <a:endParaRPr lang="en-US" sz="1300" dirty="0"/>
          </a:p>
          <a:p>
            <a:pPr marL="0" indent="0" algn="l">
              <a:buNone/>
            </a:pPr>
            <a:r>
              <a:rPr lang="en-US" sz="1300" dirty="0">
                <a:solidFill>
                  <a:srgbClr val="000000"/>
                </a:solidFill>
              </a:rPr>
              <a:t xml:space="preserve"> </a:t>
            </a:r>
            <a:endParaRPr lang="en-US" sz="1300" dirty="0"/>
          </a:p>
          <a:p>
            <a:pPr marL="0" indent="0" algn="l">
              <a:buNone/>
            </a:pPr>
            <a:r>
              <a:rPr lang="en-US" sz="1300" b="1" dirty="0">
                <a:solidFill>
                  <a:srgbClr val="2C5F9E"/>
                </a:solidFill>
              </a:rPr>
              <a:t xml:space="preserve">Point 3: </a:t>
            </a:r>
            <a:r>
              <a:rPr lang="en-US" sz="1300" dirty="0">
                <a:solidFill>
                  <a:srgbClr val="222222"/>
                </a:solidFill>
              </a:rPr>
              <a:t>On the day, her voice shook at the start — but preparation carried her through. She scored top marks. A visiting recruiter offered her a job interview on the spot.</a:t>
            </a:r>
            <a:endParaRPr lang="en-US" sz="1300" dirty="0"/>
          </a:p>
        </p:txBody>
      </p:sp>
      <p:sp>
        <p:nvSpPr>
          <p:cNvPr id="8" name="Shape 6"/>
          <p:cNvSpPr/>
          <p:nvPr/>
        </p:nvSpPr>
        <p:spPr>
          <a:xfrm>
            <a:off x="5577840" y="822960"/>
            <a:ext cx="3200400" cy="3657600"/>
          </a:xfrm>
          <a:prstGeom prst="rect">
            <a:avLst/>
          </a:prstGeom>
          <a:solidFill>
            <a:srgbClr val="1A2E5A"/>
          </a:solidFill>
          <a:ln/>
          <a:effectLst>
            <a:outerShdw blurRad="101600" dist="38100" dir="8100000" algn="bl" rotWithShape="0">
              <a:srgbClr val="000000">
                <a:alpha val="12000"/>
              </a:srgbClr>
            </a:outerShdw>
          </a:effectLst>
        </p:spPr>
      </p:sp>
      <p:sp>
        <p:nvSpPr>
          <p:cNvPr id="9" name="Text 7"/>
          <p:cNvSpPr/>
          <p:nvPr/>
        </p:nvSpPr>
        <p:spPr>
          <a:xfrm>
            <a:off x="5577840" y="822960"/>
            <a:ext cx="3200400" cy="640080"/>
          </a:xfrm>
          <a:prstGeom prst="rect">
            <a:avLst/>
          </a:prstGeom>
          <a:noFill/>
          <a:ln/>
        </p:spPr>
        <p:txBody>
          <a:bodyPr wrap="square" lIns="0" tIns="0" rIns="0" bIns="0" rtlCol="0" anchor="ctr"/>
          <a:lstStyle/>
          <a:p>
            <a:pPr marL="0" indent="0" algn="ctr">
              <a:buNone/>
            </a:pPr>
            <a:r>
              <a:rPr lang="en-US" sz="1300" b="1" dirty="0">
                <a:solidFill>
                  <a:srgbClr val="F5A623"/>
                </a:solidFill>
              </a:rPr>
              <a:t>Real-World</a:t>
            </a:r>
            <a:endParaRPr lang="en-US" sz="1300" dirty="0"/>
          </a:p>
          <a:p>
            <a:pPr marL="0" indent="0" algn="ctr">
              <a:buNone/>
            </a:pPr>
            <a:r>
              <a:rPr lang="en-US" sz="1300" b="1" dirty="0">
                <a:solidFill>
                  <a:srgbClr val="F5A623"/>
                </a:solidFill>
              </a:rPr>
              <a:t>Example</a:t>
            </a:r>
            <a:endParaRPr lang="en-US" sz="1300" dirty="0"/>
          </a:p>
        </p:txBody>
      </p:sp>
      <p:sp>
        <p:nvSpPr>
          <p:cNvPr id="10" name="Shape 8"/>
          <p:cNvSpPr/>
          <p:nvPr/>
        </p:nvSpPr>
        <p:spPr>
          <a:xfrm>
            <a:off x="5577840" y="1463040"/>
            <a:ext cx="3200400" cy="27432"/>
          </a:xfrm>
          <a:prstGeom prst="rect">
            <a:avLst/>
          </a:prstGeom>
          <a:solidFill>
            <a:srgbClr val="4A90D9"/>
          </a:solidFill>
          <a:ln/>
        </p:spPr>
      </p:sp>
      <p:sp>
        <p:nvSpPr>
          <p:cNvPr id="11" name="Text 9"/>
          <p:cNvSpPr/>
          <p:nvPr/>
        </p:nvSpPr>
        <p:spPr>
          <a:xfrm>
            <a:off x="5715000" y="1554480"/>
            <a:ext cx="2926080" cy="2560320"/>
          </a:xfrm>
          <a:prstGeom prst="rect">
            <a:avLst/>
          </a:prstGeom>
          <a:noFill/>
          <a:ln/>
        </p:spPr>
        <p:txBody>
          <a:bodyPr wrap="square" lIns="0" tIns="0" rIns="0" bIns="0" rtlCol="0" anchor="t"/>
          <a:lstStyle/>
          <a:p>
            <a:pPr marL="0" indent="0" algn="l">
              <a:buNone/>
            </a:pPr>
            <a:r>
              <a:rPr lang="en-US" sz="1200" i="1" dirty="0">
                <a:solidFill>
                  <a:srgbClr val="CCDDEE"/>
                </a:solidFill>
              </a:rPr>
              <a:t>What Buffett, Gandhi and Priya all had in common: (1) They felt genuine fear. (2) They chose to face it. (3) They used deliberate, consistent practice. (4) They refused to let one bad experience define them.</a:t>
            </a:r>
            <a:endParaRPr lang="en-US" sz="1200" dirty="0"/>
          </a:p>
          <a:p>
            <a:pPr marL="0" indent="0" algn="l">
              <a:buNone/>
            </a:pPr>
            <a:endParaRPr lang="en-US" sz="1200" dirty="0"/>
          </a:p>
          <a:p>
            <a:pPr marL="0" indent="0" algn="l">
              <a:buNone/>
            </a:pPr>
            <a:r>
              <a:rPr lang="en-US" sz="1200" i="1" dirty="0">
                <a:solidFill>
                  <a:srgbClr val="CCDDEE"/>
                </a:solidFill>
              </a:rPr>
              <a:t>Key message: You do not have to eliminate the fear. You just have to be more prepared than the fear is strong. Great speakers are not born — they are built, one practice session at a time.</a:t>
            </a:r>
            <a:endParaRPr lang="en-US" sz="1200" dirty="0"/>
          </a:p>
        </p:txBody>
      </p:sp>
      <p:sp>
        <p:nvSpPr>
          <p:cNvPr id="12" name="Shape 10"/>
          <p:cNvSpPr/>
          <p:nvPr/>
        </p:nvSpPr>
        <p:spPr>
          <a:xfrm>
            <a:off x="365760" y="3977640"/>
            <a:ext cx="4846320" cy="777240"/>
          </a:xfrm>
          <a:prstGeom prst="rect">
            <a:avLst/>
          </a:prstGeom>
          <a:solidFill>
            <a:srgbClr val="E8EFF8"/>
          </a:solidFill>
          <a:ln/>
        </p:spPr>
      </p:sp>
      <p:sp>
        <p:nvSpPr>
          <p:cNvPr id="13" name="Shape 11"/>
          <p:cNvSpPr/>
          <p:nvPr/>
        </p:nvSpPr>
        <p:spPr>
          <a:xfrm>
            <a:off x="365760" y="3977640"/>
            <a:ext cx="64008" cy="777240"/>
          </a:xfrm>
          <a:prstGeom prst="rect">
            <a:avLst/>
          </a:prstGeom>
          <a:solidFill>
            <a:srgbClr val="27AE60"/>
          </a:solidFill>
          <a:ln/>
        </p:spPr>
      </p:sp>
      <p:sp>
        <p:nvSpPr>
          <p:cNvPr id="14" name="Text 12"/>
          <p:cNvSpPr/>
          <p:nvPr/>
        </p:nvSpPr>
        <p:spPr>
          <a:xfrm>
            <a:off x="502920" y="3977640"/>
            <a:ext cx="4663440" cy="777240"/>
          </a:xfrm>
          <a:prstGeom prst="rect">
            <a:avLst/>
          </a:prstGeom>
          <a:noFill/>
          <a:ln/>
        </p:spPr>
        <p:txBody>
          <a:bodyPr wrap="square" lIns="0" tIns="0" rIns="0" bIns="0" rtlCol="0" anchor="ctr"/>
          <a:lstStyle/>
          <a:p>
            <a:pPr marL="0" indent="0" algn="l">
              <a:buNone/>
            </a:pPr>
            <a:r>
              <a:rPr lang="en-US" sz="1100" b="1" dirty="0">
                <a:solidFill>
                  <a:srgbClr val="27AE60"/>
                </a:solidFill>
              </a:rPr>
              <a:t xml:space="preserve"> Evaluation Tip: </a:t>
            </a:r>
            <a:r>
              <a:rPr lang="en-US" sz="1100" dirty="0">
                <a:solidFill>
                  <a:srgbClr val="1A2E5A"/>
                </a:solidFill>
              </a:rPr>
              <a:t>This slide tests your Individual Content Contribution score. Know this section deeply — you'll be asked about it.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5A"/>
          </a:solidFill>
          <a:ln/>
        </p:spPr>
      </p:sp>
      <p:sp>
        <p:nvSpPr>
          <p:cNvPr id="3" name="Text 1"/>
          <p:cNvSpPr/>
          <p:nvPr/>
        </p:nvSpPr>
        <p:spPr>
          <a:xfrm>
            <a:off x="365760" y="0"/>
            <a:ext cx="6400800" cy="685800"/>
          </a:xfrm>
          <a:prstGeom prst="rect">
            <a:avLst/>
          </a:prstGeom>
          <a:noFill/>
          <a:ln/>
        </p:spPr>
        <p:txBody>
          <a:bodyPr wrap="square" lIns="0" tIns="0" rIns="0" bIns="0" rtlCol="0" anchor="ctr"/>
          <a:lstStyle/>
          <a:p>
            <a:pPr marL="0" indent="0" algn="l">
              <a:buNone/>
            </a:pPr>
            <a:r>
              <a:rPr lang="en-US" sz="2200" b="1" dirty="0">
                <a:solidFill>
                  <a:srgbClr val="FFFFFF"/>
                </a:solidFill>
              </a:rPr>
              <a:t>Proven Techniques — Part 1</a:t>
            </a:r>
            <a:endParaRPr lang="en-US" sz="2200" dirty="0"/>
          </a:p>
        </p:txBody>
      </p:sp>
      <p:sp>
        <p:nvSpPr>
          <p:cNvPr id="4" name="Shape 2"/>
          <p:cNvSpPr/>
          <p:nvPr/>
        </p:nvSpPr>
        <p:spPr>
          <a:xfrm>
            <a:off x="7863840" y="210312"/>
            <a:ext cx="1097280" cy="256032"/>
          </a:xfrm>
          <a:prstGeom prst="roundRect">
            <a:avLst>
              <a:gd name="adj" fmla="val 17857"/>
            </a:avLst>
          </a:prstGeom>
          <a:solidFill>
            <a:srgbClr val="4A90D9"/>
          </a:solidFill>
          <a:ln/>
        </p:spPr>
      </p:sp>
      <p:sp>
        <p:nvSpPr>
          <p:cNvPr id="5" name="Text 3"/>
          <p:cNvSpPr/>
          <p:nvPr/>
        </p:nvSpPr>
        <p:spPr>
          <a:xfrm>
            <a:off x="7863840" y="210312"/>
            <a:ext cx="109728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04</a:t>
            </a:r>
            <a:endParaRPr lang="en-US" sz="900" dirty="0"/>
          </a:p>
        </p:txBody>
      </p:sp>
      <p:sp>
        <p:nvSpPr>
          <p:cNvPr id="6" name="Text 4"/>
          <p:cNvSpPr/>
          <p:nvPr/>
        </p:nvSpPr>
        <p:spPr>
          <a:xfrm>
            <a:off x="365760" y="914400"/>
            <a:ext cx="4846320" cy="457200"/>
          </a:xfrm>
          <a:prstGeom prst="rect">
            <a:avLst/>
          </a:prstGeom>
          <a:noFill/>
          <a:ln/>
        </p:spPr>
        <p:txBody>
          <a:bodyPr wrap="square" lIns="0" tIns="0" rIns="0" bIns="0" rtlCol="0" anchor="ctr"/>
          <a:lstStyle/>
          <a:p>
            <a:pPr marL="0" indent="0" algn="l">
              <a:buNone/>
            </a:pPr>
            <a:r>
              <a:rPr lang="en-US" sz="1800" b="1" dirty="0">
                <a:solidFill>
                  <a:srgbClr val="1A2E5A"/>
                </a:solidFill>
              </a:rPr>
              <a:t>Proven Techniques — Part 1</a:t>
            </a:r>
            <a:endParaRPr lang="en-US" sz="1800" dirty="0"/>
          </a:p>
        </p:txBody>
      </p:sp>
      <p:sp>
        <p:nvSpPr>
          <p:cNvPr id="7" name="Text 5"/>
          <p:cNvSpPr/>
          <p:nvPr/>
        </p:nvSpPr>
        <p:spPr>
          <a:xfrm>
            <a:off x="365760" y="1463040"/>
            <a:ext cx="4846320" cy="2286000"/>
          </a:xfrm>
          <a:prstGeom prst="rect">
            <a:avLst/>
          </a:prstGeom>
          <a:noFill/>
          <a:ln/>
        </p:spPr>
        <p:txBody>
          <a:bodyPr wrap="square" lIns="0" tIns="0" rIns="0" bIns="0" rtlCol="0" anchor="t"/>
          <a:lstStyle/>
          <a:p>
            <a:pPr marL="0" indent="0" algn="l">
              <a:buNone/>
            </a:pPr>
            <a:r>
              <a:rPr lang="en-US" sz="1300" b="1" dirty="0">
                <a:solidFill>
                  <a:srgbClr val="2C5F9E"/>
                </a:solidFill>
              </a:rPr>
              <a:t xml:space="preserve">Point 1: </a:t>
            </a:r>
            <a:r>
              <a:rPr lang="en-US" sz="1300" dirty="0">
                <a:solidFill>
                  <a:srgbClr val="222222"/>
                </a:solidFill>
              </a:rPr>
              <a:t>Technique 1 — The 3-Second Deep Breath: Inhale through nose for 4 counts, hold 1, exhale slowly for 4. This triggers the parasympathetic nervous system — your body's natural calm-down switch. Stanford neuroscientist Andrew Huberman confirms it is the fastest way to reduce acute stress.</a:t>
            </a:r>
            <a:endParaRPr lang="en-US" sz="1300" dirty="0"/>
          </a:p>
          <a:p>
            <a:pPr marL="0" indent="0" algn="l">
              <a:buNone/>
            </a:pPr>
            <a:r>
              <a:rPr lang="en-US" sz="1300" dirty="0">
                <a:solidFill>
                  <a:srgbClr val="000000"/>
                </a:solidFill>
              </a:rPr>
              <a:t xml:space="preserve"> </a:t>
            </a:r>
            <a:endParaRPr lang="en-US" sz="1300" dirty="0"/>
          </a:p>
          <a:p>
            <a:pPr marL="0" indent="0" algn="l">
              <a:buNone/>
            </a:pPr>
            <a:r>
              <a:rPr lang="en-US" sz="1300" b="1" dirty="0">
                <a:solidFill>
                  <a:srgbClr val="2C5F9E"/>
                </a:solidFill>
              </a:rPr>
              <a:t xml:space="preserve">Point 2: </a:t>
            </a:r>
            <a:r>
              <a:rPr lang="en-US" sz="1300" dirty="0">
                <a:solidFill>
                  <a:srgbClr val="222222"/>
                </a:solidFill>
              </a:rPr>
              <a:t>Technique 2 — Mirror Practice: Speak your content aloud in front of a mirror daily. Builds muscle memory — just like a dancer rehearsing choreography. Train your brain to associate the content with calm delivery.</a:t>
            </a:r>
            <a:endParaRPr lang="en-US" sz="1300" dirty="0"/>
          </a:p>
          <a:p>
            <a:pPr marL="0" indent="0" algn="l">
              <a:buNone/>
            </a:pPr>
            <a:r>
              <a:rPr lang="en-US" sz="1300" dirty="0">
                <a:solidFill>
                  <a:srgbClr val="000000"/>
                </a:solidFill>
              </a:rPr>
              <a:t xml:space="preserve"> </a:t>
            </a:r>
            <a:endParaRPr lang="en-US" sz="1300" dirty="0"/>
          </a:p>
          <a:p>
            <a:pPr marL="0" indent="0" algn="l">
              <a:buNone/>
            </a:pPr>
            <a:r>
              <a:rPr lang="en-US" sz="1300" b="1" dirty="0">
                <a:solidFill>
                  <a:srgbClr val="2C5F9E"/>
                </a:solidFill>
              </a:rPr>
              <a:t xml:space="preserve">Point 3: </a:t>
            </a:r>
            <a:r>
              <a:rPr lang="en-US" sz="1300" dirty="0">
                <a:solidFill>
                  <a:srgbClr val="222222"/>
                </a:solidFill>
              </a:rPr>
              <a:t>Technique 3 — Gradual Exposure: Start presenting alone → then to a mirror → then one friend → then a small group. Each step expands your comfort zone. Clinically proven to reduce phobias through systematic desensitisation.</a:t>
            </a:r>
            <a:endParaRPr lang="en-US" sz="1300" dirty="0"/>
          </a:p>
        </p:txBody>
      </p:sp>
      <p:sp>
        <p:nvSpPr>
          <p:cNvPr id="8" name="Shape 6"/>
          <p:cNvSpPr/>
          <p:nvPr/>
        </p:nvSpPr>
        <p:spPr>
          <a:xfrm>
            <a:off x="5577840" y="822960"/>
            <a:ext cx="3200400" cy="3657600"/>
          </a:xfrm>
          <a:prstGeom prst="rect">
            <a:avLst/>
          </a:prstGeom>
          <a:solidFill>
            <a:srgbClr val="1A2E5A"/>
          </a:solidFill>
          <a:ln/>
          <a:effectLst>
            <a:outerShdw blurRad="101600" dist="38100" dir="8100000" algn="bl" rotWithShape="0">
              <a:srgbClr val="000000">
                <a:alpha val="12000"/>
              </a:srgbClr>
            </a:outerShdw>
          </a:effectLst>
        </p:spPr>
      </p:sp>
      <p:sp>
        <p:nvSpPr>
          <p:cNvPr id="10" name="Shape 8"/>
          <p:cNvSpPr/>
          <p:nvPr/>
        </p:nvSpPr>
        <p:spPr>
          <a:xfrm>
            <a:off x="5577840" y="1463040"/>
            <a:ext cx="3200400" cy="27432"/>
          </a:xfrm>
          <a:prstGeom prst="rect">
            <a:avLst/>
          </a:prstGeom>
          <a:solidFill>
            <a:srgbClr val="4A90D9"/>
          </a:solidFill>
          <a:ln/>
        </p:spPr>
      </p:sp>
      <p:sp>
        <p:nvSpPr>
          <p:cNvPr id="12" name="Shape 10"/>
          <p:cNvSpPr/>
          <p:nvPr/>
        </p:nvSpPr>
        <p:spPr>
          <a:xfrm>
            <a:off x="365760" y="3977640"/>
            <a:ext cx="4846320" cy="777240"/>
          </a:xfrm>
          <a:prstGeom prst="rect">
            <a:avLst/>
          </a:prstGeom>
          <a:solidFill>
            <a:srgbClr val="E8EFF8"/>
          </a:solidFill>
          <a:ln/>
        </p:spPr>
      </p:sp>
      <p:sp>
        <p:nvSpPr>
          <p:cNvPr id="13" name="Shape 11"/>
          <p:cNvSpPr/>
          <p:nvPr/>
        </p:nvSpPr>
        <p:spPr>
          <a:xfrm>
            <a:off x="365760" y="3977640"/>
            <a:ext cx="64008" cy="777240"/>
          </a:xfrm>
          <a:prstGeom prst="rect">
            <a:avLst/>
          </a:prstGeom>
          <a:solidFill>
            <a:srgbClr val="27AE60"/>
          </a:solidFill>
          <a:ln/>
        </p:spPr>
      </p:sp>
      <p:sp>
        <p:nvSpPr>
          <p:cNvPr id="14" name="Text 12"/>
          <p:cNvSpPr/>
          <p:nvPr/>
        </p:nvSpPr>
        <p:spPr>
          <a:xfrm>
            <a:off x="502920" y="3977640"/>
            <a:ext cx="4663440" cy="777240"/>
          </a:xfrm>
          <a:prstGeom prst="rect">
            <a:avLst/>
          </a:prstGeom>
          <a:noFill/>
          <a:ln/>
        </p:spPr>
        <p:txBody>
          <a:bodyPr wrap="square" lIns="0" tIns="0" rIns="0" bIns="0" rtlCol="0" anchor="ctr"/>
          <a:lstStyle/>
          <a:p>
            <a:pPr marL="0" indent="0" algn="l">
              <a:buNone/>
            </a:pPr>
            <a:r>
              <a:rPr lang="en-US" sz="1100" b="1" dirty="0">
                <a:solidFill>
                  <a:srgbClr val="27AE60"/>
                </a:solidFill>
              </a:rPr>
              <a:t xml:space="preserve"> Evaluation Tip: </a:t>
            </a:r>
            <a:r>
              <a:rPr lang="en-US" sz="1100" dirty="0">
                <a:solidFill>
                  <a:srgbClr val="1A2E5A"/>
                </a:solidFill>
              </a:rPr>
              <a:t>This slide tests your Individual Content Contribution score. Know this section deeply — you'll be asked about it.</a:t>
            </a:r>
            <a:endParaRPr lang="en-US" sz="1100" dirty="0"/>
          </a:p>
        </p:txBody>
      </p:sp>
      <p:pic xmlns:p="http://schemas.openxmlformats.org/presentationml/2006/main" xmlns:a="http://schemas.openxmlformats.org/drawingml/2006/main" xmlns:r="http://schemas.openxmlformats.org/officeDocument/2006/relationships">
        <p:nvPicPr>
          <p:cNvPr id="999" name="EmbeddedImage_rId2"/>
          <p:cNvPicPr>
            <a:picLocks noChangeAspect="1"/>
          </p:cNvPicPr>
          <p:nvPr/>
        </p:nvPicPr>
        <p:blipFill>
          <a:blip r:embed="rId2"/>
          <a:stretch>
            <a:fillRect/>
          </a:stretch>
        </p:blipFill>
        <p:spPr>
          <a:xfrm>
            <a:off x="5577840" y="914400"/>
            <a:ext cx="3200400" cy="3200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5A"/>
          </a:solidFill>
          <a:ln/>
        </p:spPr>
      </p:sp>
      <p:sp>
        <p:nvSpPr>
          <p:cNvPr id="3" name="Text 1"/>
          <p:cNvSpPr/>
          <p:nvPr/>
        </p:nvSpPr>
        <p:spPr>
          <a:xfrm>
            <a:off x="365760" y="0"/>
            <a:ext cx="6400800" cy="685800"/>
          </a:xfrm>
          <a:prstGeom prst="rect">
            <a:avLst/>
          </a:prstGeom>
          <a:noFill/>
          <a:ln/>
        </p:spPr>
        <p:txBody>
          <a:bodyPr wrap="square" lIns="0" tIns="0" rIns="0" bIns="0" rtlCol="0" anchor="ctr"/>
          <a:lstStyle/>
          <a:p>
            <a:pPr marL="0" indent="0" algn="l">
              <a:buNone/>
            </a:pPr>
            <a:r>
              <a:rPr lang="en-US" sz="2200" b="1" dirty="0">
                <a:solidFill>
                  <a:srgbClr val="FFFFFF"/>
                </a:solidFill>
              </a:rPr>
              <a:t>Proven Techniques — Part 2</a:t>
            </a:r>
            <a:endParaRPr lang="en-US" sz="2200" dirty="0"/>
          </a:p>
        </p:txBody>
      </p:sp>
      <p:sp>
        <p:nvSpPr>
          <p:cNvPr id="4" name="Shape 2"/>
          <p:cNvSpPr/>
          <p:nvPr/>
        </p:nvSpPr>
        <p:spPr>
          <a:xfrm>
            <a:off x="7863840" y="210312"/>
            <a:ext cx="1097280" cy="256032"/>
          </a:xfrm>
          <a:prstGeom prst="roundRect">
            <a:avLst>
              <a:gd name="adj" fmla="val 17857"/>
            </a:avLst>
          </a:prstGeom>
          <a:solidFill>
            <a:srgbClr val="4A90D9"/>
          </a:solidFill>
          <a:ln/>
        </p:spPr>
      </p:sp>
      <p:sp>
        <p:nvSpPr>
          <p:cNvPr id="5" name="Text 3"/>
          <p:cNvSpPr/>
          <p:nvPr/>
        </p:nvSpPr>
        <p:spPr>
          <a:xfrm>
            <a:off x="7863840" y="210312"/>
            <a:ext cx="109728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04</a:t>
            </a:r>
            <a:endParaRPr lang="en-US" sz="900" dirty="0"/>
          </a:p>
        </p:txBody>
      </p:sp>
      <p:sp>
        <p:nvSpPr>
          <p:cNvPr id="6" name="Text 4"/>
          <p:cNvSpPr/>
          <p:nvPr/>
        </p:nvSpPr>
        <p:spPr>
          <a:xfrm>
            <a:off x="365760" y="914400"/>
            <a:ext cx="4846320" cy="457200"/>
          </a:xfrm>
          <a:prstGeom prst="rect">
            <a:avLst/>
          </a:prstGeom>
          <a:noFill/>
          <a:ln/>
        </p:spPr>
        <p:txBody>
          <a:bodyPr wrap="square" lIns="0" tIns="0" rIns="0" bIns="0" rtlCol="0" anchor="ctr"/>
          <a:lstStyle/>
          <a:p>
            <a:pPr marL="0" indent="0" algn="l">
              <a:buNone/>
            </a:pPr>
            <a:r>
              <a:rPr lang="en-US" sz="1800" b="1" dirty="0">
                <a:solidFill>
                  <a:srgbClr val="1A2E5A"/>
                </a:solidFill>
              </a:rPr>
              <a:t>Proven Techniques — Part 2</a:t>
            </a:r>
            <a:endParaRPr lang="en-US" sz="1800" dirty="0"/>
          </a:p>
        </p:txBody>
      </p:sp>
      <p:sp>
        <p:nvSpPr>
          <p:cNvPr id="7" name="Text 5"/>
          <p:cNvSpPr/>
          <p:nvPr/>
        </p:nvSpPr>
        <p:spPr>
          <a:xfrm>
            <a:off x="365760" y="1463040"/>
            <a:ext cx="4846320" cy="2286000"/>
          </a:xfrm>
          <a:prstGeom prst="rect">
            <a:avLst/>
          </a:prstGeom>
          <a:noFill/>
          <a:ln/>
        </p:spPr>
        <p:txBody>
          <a:bodyPr wrap="square" lIns="0" tIns="0" rIns="0" bIns="0" rtlCol="0" anchor="t"/>
          <a:lstStyle/>
          <a:p>
            <a:pPr marL="0" indent="0" algn="l">
              <a:buNone/>
            </a:pPr>
            <a:r>
              <a:rPr lang="en-US" sz="1300" b="1" dirty="0">
                <a:solidFill>
                  <a:srgbClr val="2C5F9E"/>
                </a:solidFill>
              </a:rPr>
              <a:t xml:space="preserve">Point 1: </a:t>
            </a:r>
            <a:r>
              <a:rPr lang="en-US" sz="1300" dirty="0">
                <a:solidFill>
                  <a:srgbClr val="222222"/>
                </a:solidFill>
              </a:rPr>
              <a:t>Technique 4 — Visualization: Spend 5–10 mins before sleeping mentally rehearsing your presentation going perfectly. Harvard Medical School research shows mental rehearsal activates the same motor cortex regions as physical performance. Elite Olympic athletes use this before every competition.</a:t>
            </a:r>
            <a:endParaRPr lang="en-US" sz="1300" dirty="0"/>
          </a:p>
          <a:p>
            <a:pPr marL="0" indent="0" algn="l">
              <a:buNone/>
            </a:pPr>
            <a:r>
              <a:rPr lang="en-US" sz="1300" dirty="0">
                <a:solidFill>
                  <a:srgbClr val="000000"/>
                </a:solidFill>
              </a:rPr>
              <a:t xml:space="preserve"> </a:t>
            </a:r>
            <a:endParaRPr lang="en-US" sz="1300" dirty="0"/>
          </a:p>
          <a:p>
            <a:pPr marL="0" indent="0" algn="l">
              <a:buNone/>
            </a:pPr>
            <a:r>
              <a:rPr lang="en-US" sz="1300" b="1" dirty="0">
                <a:solidFill>
                  <a:srgbClr val="2C5F9E"/>
                </a:solidFill>
              </a:rPr>
              <a:t xml:space="preserve">Point 2: </a:t>
            </a:r>
            <a:r>
              <a:rPr lang="en-US" sz="1300" dirty="0">
                <a:solidFill>
                  <a:srgbClr val="222222"/>
                </a:solidFill>
              </a:rPr>
              <a:t>Technique 5 — Reframe Nerves as Excitement: Harvard researcher Alison Wood Brooks (2014) found saying “I am excited” before speaking improves performance. Anxiety and excitement have identical body signals — only the label differs.</a:t>
            </a:r>
            <a:endParaRPr lang="en-US" sz="1300" dirty="0"/>
          </a:p>
          <a:p>
            <a:pPr marL="0" indent="0" algn="l">
              <a:buNone/>
            </a:pPr>
            <a:r>
              <a:rPr lang="en-US" sz="1300" dirty="0">
                <a:solidFill>
                  <a:srgbClr val="000000"/>
                </a:solidFill>
              </a:rPr>
              <a:t xml:space="preserve"> </a:t>
            </a:r>
            <a:endParaRPr lang="en-US" sz="1300" dirty="0"/>
          </a:p>
          <a:p>
            <a:pPr marL="0" indent="0" algn="l">
              <a:buNone/>
            </a:pPr>
            <a:r>
              <a:rPr lang="en-US" sz="1300" b="1" dirty="0">
                <a:solidFill>
                  <a:srgbClr val="2C5F9E"/>
                </a:solidFill>
              </a:rPr>
              <a:t xml:space="preserve">Point 3: </a:t>
            </a:r>
            <a:r>
              <a:rPr lang="en-US" sz="1300" dirty="0">
                <a:solidFill>
                  <a:srgbClr val="222222"/>
                </a:solidFill>
              </a:rPr>
              <a:t>Technique 6 — The Power Pose: Amy Cuddy's Harvard research suggests standing in an open, expansive posture for 2 minutes before speaking physically changes your hormones — increasing testosterone and decreasing cortisol — making you feel more confident before you say a single word.</a:t>
            </a:r>
            <a:endParaRPr lang="en-US" sz="1300" dirty="0"/>
          </a:p>
        </p:txBody>
      </p:sp>
      <p:sp>
        <p:nvSpPr>
          <p:cNvPr id="8" name="Shape 6"/>
          <p:cNvSpPr/>
          <p:nvPr/>
        </p:nvSpPr>
        <p:spPr>
          <a:xfrm>
            <a:off x="5577840" y="822960"/>
            <a:ext cx="3200400" cy="3657600"/>
          </a:xfrm>
          <a:prstGeom prst="rect">
            <a:avLst/>
          </a:prstGeom>
          <a:solidFill>
            <a:srgbClr val="1A2E5A"/>
          </a:solidFill>
          <a:ln/>
          <a:effectLst>
            <a:outerShdw blurRad="101600" dist="38100" dir="8100000" algn="bl" rotWithShape="0">
              <a:srgbClr val="000000">
                <a:alpha val="12000"/>
              </a:srgbClr>
            </a:outerShdw>
          </a:effectLst>
        </p:spPr>
      </p:sp>
      <p:sp>
        <p:nvSpPr>
          <p:cNvPr id="9" name="Text 7"/>
          <p:cNvSpPr/>
          <p:nvPr/>
        </p:nvSpPr>
        <p:spPr>
          <a:xfrm>
            <a:off x="5577840" y="822960"/>
            <a:ext cx="3200400" cy="640080"/>
          </a:xfrm>
          <a:prstGeom prst="rect">
            <a:avLst/>
          </a:prstGeom>
          <a:noFill/>
          <a:ln/>
        </p:spPr>
        <p:txBody>
          <a:bodyPr wrap="square" lIns="0" tIns="0" rIns="0" bIns="0" rtlCol="0" anchor="ctr"/>
          <a:lstStyle/>
          <a:p>
            <a:pPr marL="0" indent="0" algn="ctr">
              <a:buNone/>
            </a:pPr>
            <a:r>
              <a:rPr lang="en-US" sz="1300" b="1" dirty="0">
                <a:solidFill>
                  <a:srgbClr val="F5A623"/>
                </a:solidFill>
              </a:rPr>
              <a:t>Real-World</a:t>
            </a:r>
            <a:endParaRPr lang="en-US" sz="1300" dirty="0"/>
          </a:p>
          <a:p>
            <a:pPr marL="0" indent="0" algn="ctr">
              <a:buNone/>
            </a:pPr>
            <a:r>
              <a:rPr lang="en-US" sz="1300" b="1" dirty="0">
                <a:solidFill>
                  <a:srgbClr val="F5A623"/>
                </a:solidFill>
              </a:rPr>
              <a:t>Example</a:t>
            </a:r>
            <a:endParaRPr lang="en-US" sz="1300" dirty="0"/>
          </a:p>
        </p:txBody>
      </p:sp>
      <p:sp>
        <p:nvSpPr>
          <p:cNvPr id="10" name="Shape 8"/>
          <p:cNvSpPr/>
          <p:nvPr/>
        </p:nvSpPr>
        <p:spPr>
          <a:xfrm>
            <a:off x="5577840" y="1463040"/>
            <a:ext cx="3200400" cy="27432"/>
          </a:xfrm>
          <a:prstGeom prst="rect">
            <a:avLst/>
          </a:prstGeom>
          <a:solidFill>
            <a:srgbClr val="4A90D9"/>
          </a:solidFill>
          <a:ln/>
        </p:spPr>
      </p:sp>
      <p:sp>
        <p:nvSpPr>
          <p:cNvPr id="11" name="Text 9"/>
          <p:cNvSpPr/>
          <p:nvPr/>
        </p:nvSpPr>
        <p:spPr>
          <a:xfrm>
            <a:off x="5715000" y="1554480"/>
            <a:ext cx="2926080" cy="2560320"/>
          </a:xfrm>
          <a:prstGeom prst="rect">
            <a:avLst/>
          </a:prstGeom>
          <a:noFill/>
          <a:ln/>
        </p:spPr>
        <p:txBody>
          <a:bodyPr wrap="square" lIns="0" tIns="0" rIns="0" bIns="0" rtlCol="0" anchor="t"/>
          <a:lstStyle/>
          <a:p>
            <a:pPr marL="0" indent="0" algn="l">
              <a:buNone/>
            </a:pPr>
            <a:r>
              <a:rPr lang="en-US" sz="1200" i="1" dirty="0">
                <a:solidFill>
                  <a:srgbClr val="CCDDEE"/>
                </a:solidFill>
              </a:rPr>
              <a:t>Priya used Techniques 1, 2, and 5 in combination. Before her final presentation, she visualized success the night before, did the breathing exercise backstage, and told herself “I am excited” instead of “I am scared”.</a:t>
            </a:r>
            <a:endParaRPr lang="en-US" sz="1200" dirty="0"/>
          </a:p>
          <a:p>
            <a:pPr marL="0" indent="0" algn="l">
              <a:buNone/>
            </a:pPr>
            <a:endParaRPr lang="en-US" sz="1200" dirty="0"/>
          </a:p>
          <a:p>
            <a:pPr marL="0" indent="0" algn="l">
              <a:buNone/>
            </a:pPr>
            <a:r>
              <a:rPr lang="en-US" sz="1200" i="1" dirty="0">
                <a:solidFill>
                  <a:srgbClr val="CCDDEE"/>
                </a:solidFill>
              </a:rPr>
              <a:t>Result: she scored top marks and received a job interview offer from a visiting recruiter. Each of these 6 techniques is free, takes under 10 minutes, and is backed by peer-reviewed research. Start using them today.</a:t>
            </a:r>
            <a:endParaRPr lang="en-US" sz="1200" dirty="0"/>
          </a:p>
        </p:txBody>
      </p:sp>
      <p:sp>
        <p:nvSpPr>
          <p:cNvPr id="12" name="Shape 10"/>
          <p:cNvSpPr/>
          <p:nvPr/>
        </p:nvSpPr>
        <p:spPr>
          <a:xfrm>
            <a:off x="365760" y="3977640"/>
            <a:ext cx="4846320" cy="777240"/>
          </a:xfrm>
          <a:prstGeom prst="rect">
            <a:avLst/>
          </a:prstGeom>
          <a:solidFill>
            <a:srgbClr val="E8EFF8"/>
          </a:solidFill>
          <a:ln/>
        </p:spPr>
      </p:sp>
      <p:sp>
        <p:nvSpPr>
          <p:cNvPr id="13" name="Shape 11"/>
          <p:cNvSpPr/>
          <p:nvPr/>
        </p:nvSpPr>
        <p:spPr>
          <a:xfrm>
            <a:off x="365760" y="3977640"/>
            <a:ext cx="64008" cy="777240"/>
          </a:xfrm>
          <a:prstGeom prst="rect">
            <a:avLst/>
          </a:prstGeom>
          <a:solidFill>
            <a:srgbClr val="27AE60"/>
          </a:solidFill>
          <a:ln/>
        </p:spPr>
      </p:sp>
      <p:sp>
        <p:nvSpPr>
          <p:cNvPr id="14" name="Text 12"/>
          <p:cNvSpPr/>
          <p:nvPr/>
        </p:nvSpPr>
        <p:spPr>
          <a:xfrm>
            <a:off x="502920" y="3977640"/>
            <a:ext cx="4663440" cy="777240"/>
          </a:xfrm>
          <a:prstGeom prst="rect">
            <a:avLst/>
          </a:prstGeom>
          <a:noFill/>
          <a:ln/>
        </p:spPr>
        <p:txBody>
          <a:bodyPr wrap="square" lIns="0" tIns="0" rIns="0" bIns="0" rtlCol="0" anchor="ctr"/>
          <a:lstStyle/>
          <a:p>
            <a:pPr marL="0" indent="0" algn="l">
              <a:buNone/>
            </a:pPr>
            <a:r>
              <a:rPr lang="en-US" sz="1100" b="1" dirty="0">
                <a:solidFill>
                  <a:srgbClr val="27AE60"/>
                </a:solidFill>
              </a:rPr>
              <a:t xml:space="preserve"> Evaluation Tip: </a:t>
            </a:r>
            <a:r>
              <a:rPr lang="en-US" sz="1100" dirty="0">
                <a:solidFill>
                  <a:srgbClr val="1A2E5A"/>
                </a:solidFill>
              </a:rPr>
              <a:t>This slide tests your Individual Content Contribution score. Know this section deeply — you'll be asked about 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1105</Words>
  <Application>Microsoft Office PowerPoint</Application>
  <PresentationFormat>On-screen Show (16:9)</PresentationFormat>
  <Paragraphs>122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PG Diploma Student Presentation Template</dc:title>
  <dc:subject>PptxGenJS Presentation</dc:subject>
  <dc:creator>CDAC</dc:creator>
  <cp:lastModifiedBy>Anshul Tailor</cp:lastModifiedBy>
  <cp:revision>2</cp:revision>
  <dcterms:created xsi:type="dcterms:W3CDTF">2026-04-20T11:19:52Z</dcterms:created>
  <dcterms:modified xsi:type="dcterms:W3CDTF">2026-04-20T11:25:47Z</dcterms:modified>
</cp:coreProperties>
</file>